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6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실제 적용 모델: Qwen3-4B-Instruct-2507-Q4_K_M.gguf. llama.cpp b11913 Windows CPU x64. Q4_K_M은 K 계열의 4비트 중심 혼합 정밀도 양자화 구성으로, 전체가 정확히 4비트라는 뜻은 아님. 프롬프트는 AI에 주는 작업 지시문. 정의 번역은 원문과 MODEL_ID로, 검색어 해석은 query/equipment/target_location/value_role/description/equipment_class와 QUERY_MODEL_ID로 SHA-256 키를 구성. 단위·데이터형은 검색 후보 검토에 사용되며 현재 AI 검색어 해석 저장 키에는 포함하지 않음. 모델 및 프롬프트의 변경은 개발자가 관리 식별자를 갱신할 때 기존 결과와 구분. SQLite 저장 파일은 definition-translations.sqlite3. 재사용은 정확성을 보증하지 않으며 한국어 번역은 원문과 함께 검토. Sources: https://huggingface.co/Qwen/Qwen3-4B-Instruct-2507 ; https://huggingface.co/unsloth/Qwen3-4B-Instruct-2507-GGUF ; https://github.com/ggml-org/llama.cpp ; local source D:/SemanticFinder/semantic_search/translation.py and models/qwen-ko/ATTRIBUTION.txt (2026-10-28).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4882F28-6B27-4EE1-A0BF-2C67C4576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E4876301-44FA-400F-BE8F-D2C0A1B647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F2A44027-A47B-43A0-82DE-6E9D2FA42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594E781-AD3D-4B6F-A784-FA780281A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7D9E400-4B61-4398-9C7D-56EF529A6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04FAE39-B817-4DD9-B33D-C0FD85C8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26470B0-3030-4D86-B03A-139ADB5F5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F1BB9218-43DC-4030-BB3B-760A46DE47A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1C87F10-D0C3-4D19-B7C1-DD9EC95DB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ECBC3C7-75C1-41F1-A3DF-280F50FE9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-1">
            <a:extLst>
              <a:ext uri="{FF2B5EF4-FFF2-40B4-BE49-F238E27FC236}">
                <a16:creationId xmlns:a16="http://schemas.microsoft.com/office/drawing/2014/main" id="{F61AD58F-DBD6-4399-855C-12A2E7C889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2">
            <a:extLst>
              <a:ext uri="{FF2B5EF4-FFF2-40B4-BE49-F238E27FC236}">
                <a16:creationId xmlns:a16="http://schemas.microsoft.com/office/drawing/2014/main" id="{9C492FEE-305B-48A8-82F4-F5ABD5FCEC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">
            <a:extLst>
              <a:ext uri="{FF2B5EF4-FFF2-40B4-BE49-F238E27FC236}">
                <a16:creationId xmlns:a16="http://schemas.microsoft.com/office/drawing/2014/main" id="{F91E73A5-F113-46A3-B557-8A0484B839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4">
            <a:extLst>
              <a:ext uri="{FF2B5EF4-FFF2-40B4-BE49-F238E27FC236}">
                <a16:creationId xmlns:a16="http://schemas.microsoft.com/office/drawing/2014/main" id="{F3C16FAC-1475-46C7-91C5-5868A0340C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5">
            <a:extLst>
              <a:ext uri="{FF2B5EF4-FFF2-40B4-BE49-F238E27FC236}">
                <a16:creationId xmlns:a16="http://schemas.microsoft.com/office/drawing/2014/main" id="{80AB5370-D218-4F4B-AAB3-BEDCDBE7888C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6">
            <a:extLst>
              <a:ext uri="{FF2B5EF4-FFF2-40B4-BE49-F238E27FC236}">
                <a16:creationId xmlns:a16="http://schemas.microsoft.com/office/drawing/2014/main" id="{3987A53D-855D-44B0-A205-DA0830CF6703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7">
            <a:extLst>
              <a:ext uri="{FF2B5EF4-FFF2-40B4-BE49-F238E27FC236}">
                <a16:creationId xmlns:a16="http://schemas.microsoft.com/office/drawing/2014/main" id="{F830E724-A5A8-40D2-AABA-A9B06B094BA6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8">
            <a:extLst>
              <a:ext uri="{FF2B5EF4-FFF2-40B4-BE49-F238E27FC236}">
                <a16:creationId xmlns:a16="http://schemas.microsoft.com/office/drawing/2014/main" id="{D3FB1BF2-1F49-4EB1-8A3F-FF98DF115AD2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</a:t>
            </a:r>
          </a:p>
        </p:txBody>
      </p:sp>
      <p:sp>
        <p:nvSpPr>
          <p:cNvPr id="9" name="shape-9">
            <a:extLst>
              <a:ext uri="{FF2B5EF4-FFF2-40B4-BE49-F238E27FC236}">
                <a16:creationId xmlns:a16="http://schemas.microsoft.com/office/drawing/2014/main" id="{2A0467BB-CE4E-4C16-84D6-DC6D57230391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239077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개발 현황 공유</a:t>
            </a:r>
          </a:p>
        </p:txBody>
      </p:sp>
      <p:sp>
        <p:nvSpPr>
          <p:cNvPr id="10" name="shape-10">
            <a:extLst>
              <a:ext uri="{FF2B5EF4-FFF2-40B4-BE49-F238E27FC236}">
                <a16:creationId xmlns:a16="http://schemas.microsoft.com/office/drawing/2014/main" id="{CE07B082-4CE2-443D-8CC5-9A63A515A413}"/>
              </a:ext>
            </a:extLst>
          </p:cNvPr>
          <p:cNvSpPr>
            <a:spLocks noGrp="1"/>
          </p:cNvSpPr>
          <p:nvPr/>
        </p:nvSpPr>
        <p:spPr>
          <a:xfrm>
            <a:off x="4181475" y="457200"/>
            <a:ext cx="65055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2026 제조데이터 표준화 사업</a:t>
            </a:r>
          </a:p>
        </p:txBody>
      </p:sp>
      <p:sp>
        <p:nvSpPr>
          <p:cNvPr id="11" name="shape-11">
            <a:extLst>
              <a:ext uri="{FF2B5EF4-FFF2-40B4-BE49-F238E27FC236}">
                <a16:creationId xmlns:a16="http://schemas.microsoft.com/office/drawing/2014/main" id="{D4759018-FE1B-49D4-B2AA-7F4D3C917634}"/>
              </a:ext>
            </a:extLst>
          </p:cNvPr>
          <p:cNvSpPr>
            <a:spLocks noGrp="1"/>
          </p:cNvSpPr>
          <p:nvPr/>
        </p:nvSpPr>
        <p:spPr>
          <a:xfrm>
            <a:off x="571500" y="15811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36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시맨틱ID 검색 효율성 개선 도구</a:t>
            </a:r>
          </a:p>
        </p:txBody>
      </p:sp>
      <p:sp>
        <p:nvSpPr>
          <p:cNvPr id="12" name="shape-12">
            <a:extLst>
              <a:ext uri="{FF2B5EF4-FFF2-40B4-BE49-F238E27FC236}">
                <a16:creationId xmlns:a16="http://schemas.microsoft.com/office/drawing/2014/main" id="{8BA9D7B6-CE41-4EA9-9CD8-9B598EB10434}"/>
              </a:ext>
            </a:extLst>
          </p:cNvPr>
          <p:cNvSpPr>
            <a:spLocks noGrp="1"/>
          </p:cNvSpPr>
          <p:nvPr/>
        </p:nvSpPr>
        <p:spPr>
          <a:xfrm>
            <a:off x="600075" y="2390775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20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표준 IRDI 선정을 위한 오프라인 검색·검토 지원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0DD6A65-46A0-4C92-B816-5315AD6CA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7036" y="2740411"/>
            <a:ext cx="7026159" cy="2926964"/>
          </a:xfrm>
          <a:prstGeom prst="rect">
            <a:avLst/>
          </a:prstGeom>
        </p:spPr>
      </p:pic>
      <p:sp>
        <p:nvSpPr>
          <p:cNvPr id="16" name="shape-15">
            <a:extLst>
              <a:ext uri="{FF2B5EF4-FFF2-40B4-BE49-F238E27FC236}">
                <a16:creationId xmlns:a16="http://schemas.microsoft.com/office/drawing/2014/main" id="{05B156C6-939B-4594-8B8F-DBB9DD859445}"/>
              </a:ext>
            </a:extLst>
          </p:cNvPr>
          <p:cNvSpPr>
            <a:spLocks noGrp="1"/>
          </p:cNvSpPr>
          <p:nvPr/>
        </p:nvSpPr>
        <p:spPr>
          <a:xfrm>
            <a:off x="906920" y="5676900"/>
            <a:ext cx="472676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202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2025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참조모델</a:t>
            </a:r>
            <a:r>
              <a:rPr sz="2025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2025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개발</a:t>
            </a:r>
            <a:r>
              <a:rPr sz="2025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2025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지원</a:t>
            </a:r>
            <a:r>
              <a:rPr sz="2025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2025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도구</a:t>
            </a:r>
            <a:r>
              <a:rPr lang="ko-KR" altLang="en-US" dirty="0"/>
              <a:t> </a:t>
            </a:r>
            <a:r>
              <a:rPr lang="ko-KR" altLang="en-US" sz="2025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개발 현황 공유</a:t>
            </a:r>
          </a:p>
        </p:txBody>
      </p:sp>
      <p:sp>
        <p:nvSpPr>
          <p:cNvPr id="17" name="shape-16">
            <a:extLst>
              <a:ext uri="{FF2B5EF4-FFF2-40B4-BE49-F238E27FC236}">
                <a16:creationId xmlns:a16="http://schemas.microsoft.com/office/drawing/2014/main" id="{2029504D-8B02-4205-B1C9-731C34631BB2}"/>
              </a:ext>
            </a:extLst>
          </p:cNvPr>
          <p:cNvSpPr>
            <a:spLocks noGrp="1"/>
          </p:cNvSpPr>
          <p:nvPr/>
        </p:nvSpPr>
        <p:spPr>
          <a:xfrm>
            <a:off x="600075" y="6115050"/>
            <a:ext cx="11077575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-17">
            <a:extLst>
              <a:ext uri="{FF2B5EF4-FFF2-40B4-BE49-F238E27FC236}">
                <a16:creationId xmlns:a16="http://schemas.microsoft.com/office/drawing/2014/main" id="{EB8C1DDE-60FC-4FDE-AF7C-C37EE1BB690F}"/>
              </a:ext>
            </a:extLst>
          </p:cNvPr>
          <p:cNvSpPr>
            <a:spLocks noGrp="1"/>
          </p:cNvSpPr>
          <p:nvPr/>
        </p:nvSpPr>
        <p:spPr>
          <a:xfrm>
            <a:off x="600075" y="6305550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72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2026년 10월 월례회의  /  한양대학교</a:t>
            </a:r>
          </a:p>
        </p:txBody>
      </p:sp>
    </p:spTree>
    <p:extLst>
      <p:ext uri="{BB962C8B-B14F-4D97-AF65-F5344CB8AC3E}">
        <p14:creationId xmlns:p14="http://schemas.microsoft.com/office/powerpoint/2010/main" val="63959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-18">
            <a:extLst>
              <a:ext uri="{FF2B5EF4-FFF2-40B4-BE49-F238E27FC236}">
                <a16:creationId xmlns:a16="http://schemas.microsoft.com/office/drawing/2014/main" id="{CD9E4A17-12FA-4F13-9A3F-6255D3329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19">
            <a:extLst>
              <a:ext uri="{FF2B5EF4-FFF2-40B4-BE49-F238E27FC236}">
                <a16:creationId xmlns:a16="http://schemas.microsoft.com/office/drawing/2014/main" id="{5C057941-3E45-476F-B894-819F77F358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20">
            <a:extLst>
              <a:ext uri="{FF2B5EF4-FFF2-40B4-BE49-F238E27FC236}">
                <a16:creationId xmlns:a16="http://schemas.microsoft.com/office/drawing/2014/main" id="{2E3EF43E-C4AB-41BC-A60F-2006EDED70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21">
            <a:extLst>
              <a:ext uri="{FF2B5EF4-FFF2-40B4-BE49-F238E27FC236}">
                <a16:creationId xmlns:a16="http://schemas.microsoft.com/office/drawing/2014/main" id="{A90580B7-FB5A-42EF-8402-19302CB96E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22">
            <a:extLst>
              <a:ext uri="{FF2B5EF4-FFF2-40B4-BE49-F238E27FC236}">
                <a16:creationId xmlns:a16="http://schemas.microsoft.com/office/drawing/2014/main" id="{9D7337F2-51AC-4FFB-A433-6781DBC8418C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23">
            <a:extLst>
              <a:ext uri="{FF2B5EF4-FFF2-40B4-BE49-F238E27FC236}">
                <a16:creationId xmlns:a16="http://schemas.microsoft.com/office/drawing/2014/main" id="{365605A4-AC1D-4C77-B165-A66EAB23B0D0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24">
            <a:extLst>
              <a:ext uri="{FF2B5EF4-FFF2-40B4-BE49-F238E27FC236}">
                <a16:creationId xmlns:a16="http://schemas.microsoft.com/office/drawing/2014/main" id="{0B26497A-059C-417F-9027-7FB09C056381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25">
            <a:extLst>
              <a:ext uri="{FF2B5EF4-FFF2-40B4-BE49-F238E27FC236}">
                <a16:creationId xmlns:a16="http://schemas.microsoft.com/office/drawing/2014/main" id="{B401B292-FAC7-4008-AC2B-9D224105DE40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47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목차</a:t>
            </a:r>
          </a:p>
        </p:txBody>
      </p:sp>
      <p:sp>
        <p:nvSpPr>
          <p:cNvPr id="9" name="shape-26">
            <a:extLst>
              <a:ext uri="{FF2B5EF4-FFF2-40B4-BE49-F238E27FC236}">
                <a16:creationId xmlns:a16="http://schemas.microsoft.com/office/drawing/2014/main" id="{BDCDF8FC-5FEE-4B5D-AEA4-9FD8030F3D3A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5737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발표 구성</a:t>
            </a:r>
          </a:p>
        </p:txBody>
      </p:sp>
      <p:sp>
        <p:nvSpPr>
          <p:cNvPr id="11" name="shape-28">
            <a:extLst>
              <a:ext uri="{FF2B5EF4-FFF2-40B4-BE49-F238E27FC236}">
                <a16:creationId xmlns:a16="http://schemas.microsoft.com/office/drawing/2014/main" id="{FBB8F583-7982-4C13-80EA-C0538C2FB805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개발 배경과 주요 기능, 실제 시연 및 참조모델 개발 활용</a:t>
            </a:r>
          </a:p>
        </p:txBody>
      </p:sp>
      <p:sp>
        <p:nvSpPr>
          <p:cNvPr id="12" name="shape-29">
            <a:extLst>
              <a:ext uri="{FF2B5EF4-FFF2-40B4-BE49-F238E27FC236}">
                <a16:creationId xmlns:a16="http://schemas.microsoft.com/office/drawing/2014/main" id="{F6663227-06B8-4278-B4DF-8BCF88D200C6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30">
            <a:extLst>
              <a:ext uri="{FF2B5EF4-FFF2-40B4-BE49-F238E27FC236}">
                <a16:creationId xmlns:a16="http://schemas.microsoft.com/office/drawing/2014/main" id="{B8E30F72-A543-4E61-8F64-37AF3BAE26F3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1">
            <a:extLst>
              <a:ext uri="{FF2B5EF4-FFF2-40B4-BE49-F238E27FC236}">
                <a16:creationId xmlns:a16="http://schemas.microsoft.com/office/drawing/2014/main" id="{3B78391D-A900-4804-891F-61D98DCEC089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2">
            <a:extLst>
              <a:ext uri="{FF2B5EF4-FFF2-40B4-BE49-F238E27FC236}">
                <a16:creationId xmlns:a16="http://schemas.microsoft.com/office/drawing/2014/main" id="{9D9F49EB-4862-42CB-B0C2-02EA1AA3114C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16" name="shape-33">
            <a:extLst>
              <a:ext uri="{FF2B5EF4-FFF2-40B4-BE49-F238E27FC236}">
                <a16:creationId xmlns:a16="http://schemas.microsoft.com/office/drawing/2014/main" id="{BBACA4C0-E239-479C-8357-C3BF969F22B6}"/>
              </a:ext>
            </a:extLst>
          </p:cNvPr>
          <p:cNvSpPr>
            <a:spLocks noGrp="1"/>
          </p:cNvSpPr>
          <p:nvPr/>
        </p:nvSpPr>
        <p:spPr>
          <a:xfrm>
            <a:off x="514350" y="2009775"/>
            <a:ext cx="5715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1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개발 현황 및 활용</a:t>
            </a:r>
          </a:p>
        </p:txBody>
      </p:sp>
      <p:sp>
        <p:nvSpPr>
          <p:cNvPr id="17" name="shape-34">
            <a:extLst>
              <a:ext uri="{FF2B5EF4-FFF2-40B4-BE49-F238E27FC236}">
                <a16:creationId xmlns:a16="http://schemas.microsoft.com/office/drawing/2014/main" id="{0188FC9F-FD1A-4C78-A4EB-5AAD3BBED425}"/>
              </a:ext>
            </a:extLst>
          </p:cNvPr>
          <p:cNvSpPr>
            <a:spLocks noGrp="1"/>
          </p:cNvSpPr>
          <p:nvPr/>
        </p:nvSpPr>
        <p:spPr>
          <a:xfrm>
            <a:off x="514350" y="2628900"/>
            <a:ext cx="5524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8" name="shape-35">
            <a:extLst>
              <a:ext uri="{FF2B5EF4-FFF2-40B4-BE49-F238E27FC236}">
                <a16:creationId xmlns:a16="http://schemas.microsoft.com/office/drawing/2014/main" id="{AA1A399A-082F-4B7B-AE3C-CE615FC3EBF4}"/>
              </a:ext>
            </a:extLst>
          </p:cNvPr>
          <p:cNvSpPr>
            <a:spLocks noGrp="1"/>
          </p:cNvSpPr>
          <p:nvPr/>
        </p:nvSpPr>
        <p:spPr>
          <a:xfrm>
            <a:off x="1171575" y="263842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rPr>
              <a:t>개발 배경</a:t>
            </a:r>
          </a:p>
        </p:txBody>
      </p:sp>
      <p:sp>
        <p:nvSpPr>
          <p:cNvPr id="19" name="shape-36">
            <a:extLst>
              <a:ext uri="{FF2B5EF4-FFF2-40B4-BE49-F238E27FC236}">
                <a16:creationId xmlns:a16="http://schemas.microsoft.com/office/drawing/2014/main" id="{E3430061-5403-4461-9E54-88EA08F58293}"/>
              </a:ext>
            </a:extLst>
          </p:cNvPr>
          <p:cNvSpPr>
            <a:spLocks noGrp="1"/>
          </p:cNvSpPr>
          <p:nvPr/>
        </p:nvSpPr>
        <p:spPr>
          <a:xfrm>
            <a:off x="5743575" y="2657475"/>
            <a:ext cx="7334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03</a:t>
            </a:r>
          </a:p>
        </p:txBody>
      </p:sp>
      <p:sp>
        <p:nvSpPr>
          <p:cNvPr id="21" name="shape-38">
            <a:extLst>
              <a:ext uri="{FF2B5EF4-FFF2-40B4-BE49-F238E27FC236}">
                <a16:creationId xmlns:a16="http://schemas.microsoft.com/office/drawing/2014/main" id="{68279135-0C48-4A05-9BD4-938AECD8EE48}"/>
              </a:ext>
            </a:extLst>
          </p:cNvPr>
          <p:cNvSpPr>
            <a:spLocks noGrp="1"/>
          </p:cNvSpPr>
          <p:nvPr/>
        </p:nvSpPr>
        <p:spPr>
          <a:xfrm>
            <a:off x="514350" y="3286125"/>
            <a:ext cx="5524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2" name="shape-39">
            <a:extLst>
              <a:ext uri="{FF2B5EF4-FFF2-40B4-BE49-F238E27FC236}">
                <a16:creationId xmlns:a16="http://schemas.microsoft.com/office/drawing/2014/main" id="{A5D5F445-ABDC-49CA-ABC9-D1352BB365B6}"/>
              </a:ext>
            </a:extLst>
          </p:cNvPr>
          <p:cNvSpPr>
            <a:spLocks noGrp="1"/>
          </p:cNvSpPr>
          <p:nvPr/>
        </p:nvSpPr>
        <p:spPr>
          <a:xfrm>
            <a:off x="1171575" y="3295650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rPr>
              <a:t>개발 현황</a:t>
            </a:r>
          </a:p>
        </p:txBody>
      </p:sp>
      <p:sp>
        <p:nvSpPr>
          <p:cNvPr id="23" name="shape-40">
            <a:extLst>
              <a:ext uri="{FF2B5EF4-FFF2-40B4-BE49-F238E27FC236}">
                <a16:creationId xmlns:a16="http://schemas.microsoft.com/office/drawing/2014/main" id="{618900BC-F9A3-454D-8A9C-A901C197057F}"/>
              </a:ext>
            </a:extLst>
          </p:cNvPr>
          <p:cNvSpPr>
            <a:spLocks noGrp="1"/>
          </p:cNvSpPr>
          <p:nvPr/>
        </p:nvSpPr>
        <p:spPr>
          <a:xfrm>
            <a:off x="5743575" y="3314700"/>
            <a:ext cx="7334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04</a:t>
            </a:r>
          </a:p>
        </p:txBody>
      </p:sp>
      <p:sp>
        <p:nvSpPr>
          <p:cNvPr id="25" name="shape-42">
            <a:extLst>
              <a:ext uri="{FF2B5EF4-FFF2-40B4-BE49-F238E27FC236}">
                <a16:creationId xmlns:a16="http://schemas.microsoft.com/office/drawing/2014/main" id="{8FA3FB10-FEF4-4D06-8052-2D49D7A699CC}"/>
              </a:ext>
            </a:extLst>
          </p:cNvPr>
          <p:cNvSpPr>
            <a:spLocks noGrp="1"/>
          </p:cNvSpPr>
          <p:nvPr/>
        </p:nvSpPr>
        <p:spPr>
          <a:xfrm>
            <a:off x="514350" y="3943350"/>
            <a:ext cx="5524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6" name="shape-43">
            <a:extLst>
              <a:ext uri="{FF2B5EF4-FFF2-40B4-BE49-F238E27FC236}">
                <a16:creationId xmlns:a16="http://schemas.microsoft.com/office/drawing/2014/main" id="{6E4A384F-A309-409E-A70C-C58FDAD86BE3}"/>
              </a:ext>
            </a:extLst>
          </p:cNvPr>
          <p:cNvSpPr>
            <a:spLocks noGrp="1"/>
          </p:cNvSpPr>
          <p:nvPr/>
        </p:nvSpPr>
        <p:spPr>
          <a:xfrm>
            <a:off x="1171575" y="39528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rPr>
              <a:t>주요 기능</a:t>
            </a:r>
          </a:p>
        </p:txBody>
      </p:sp>
      <p:sp>
        <p:nvSpPr>
          <p:cNvPr id="27" name="shape-44">
            <a:extLst>
              <a:ext uri="{FF2B5EF4-FFF2-40B4-BE49-F238E27FC236}">
                <a16:creationId xmlns:a16="http://schemas.microsoft.com/office/drawing/2014/main" id="{34AACBDA-2CE8-4FD7-B1F5-08DD07041352}"/>
              </a:ext>
            </a:extLst>
          </p:cNvPr>
          <p:cNvSpPr>
            <a:spLocks noGrp="1"/>
          </p:cNvSpPr>
          <p:nvPr/>
        </p:nvSpPr>
        <p:spPr>
          <a:xfrm>
            <a:off x="5743575" y="3971925"/>
            <a:ext cx="7334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05–09</a:t>
            </a:r>
          </a:p>
        </p:txBody>
      </p:sp>
      <p:sp>
        <p:nvSpPr>
          <p:cNvPr id="29" name="shape-46">
            <a:extLst>
              <a:ext uri="{FF2B5EF4-FFF2-40B4-BE49-F238E27FC236}">
                <a16:creationId xmlns:a16="http://schemas.microsoft.com/office/drawing/2014/main" id="{B4587E0D-1691-4E04-B0E4-2C4A3AD31B4C}"/>
              </a:ext>
            </a:extLst>
          </p:cNvPr>
          <p:cNvSpPr>
            <a:spLocks noGrp="1"/>
          </p:cNvSpPr>
          <p:nvPr/>
        </p:nvSpPr>
        <p:spPr>
          <a:xfrm>
            <a:off x="514350" y="4600575"/>
            <a:ext cx="5524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30" name="shape-47">
            <a:extLst>
              <a:ext uri="{FF2B5EF4-FFF2-40B4-BE49-F238E27FC236}">
                <a16:creationId xmlns:a16="http://schemas.microsoft.com/office/drawing/2014/main" id="{FBAAF403-4C28-4650-90BA-E6821E41CB84}"/>
              </a:ext>
            </a:extLst>
          </p:cNvPr>
          <p:cNvSpPr>
            <a:spLocks noGrp="1"/>
          </p:cNvSpPr>
          <p:nvPr/>
        </p:nvSpPr>
        <p:spPr>
          <a:xfrm>
            <a:off x="1171575" y="4610100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rPr>
              <a:t>실제 사용 시연</a:t>
            </a:r>
          </a:p>
        </p:txBody>
      </p:sp>
      <p:sp>
        <p:nvSpPr>
          <p:cNvPr id="31" name="shape-48">
            <a:extLst>
              <a:ext uri="{FF2B5EF4-FFF2-40B4-BE49-F238E27FC236}">
                <a16:creationId xmlns:a16="http://schemas.microsoft.com/office/drawing/2014/main" id="{A2061783-360B-405C-ACBF-95BA9605F75A}"/>
              </a:ext>
            </a:extLst>
          </p:cNvPr>
          <p:cNvSpPr>
            <a:spLocks noGrp="1"/>
          </p:cNvSpPr>
          <p:nvPr/>
        </p:nvSpPr>
        <p:spPr>
          <a:xfrm>
            <a:off x="5743575" y="4629150"/>
            <a:ext cx="7334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10</a:t>
            </a:r>
          </a:p>
        </p:txBody>
      </p:sp>
      <p:sp>
        <p:nvSpPr>
          <p:cNvPr id="33" name="shape-50">
            <a:extLst>
              <a:ext uri="{FF2B5EF4-FFF2-40B4-BE49-F238E27FC236}">
                <a16:creationId xmlns:a16="http://schemas.microsoft.com/office/drawing/2014/main" id="{4D98FAB1-A8F6-4D52-A70C-133867422A67}"/>
              </a:ext>
            </a:extLst>
          </p:cNvPr>
          <p:cNvSpPr>
            <a:spLocks noGrp="1"/>
          </p:cNvSpPr>
          <p:nvPr/>
        </p:nvSpPr>
        <p:spPr>
          <a:xfrm>
            <a:off x="514350" y="5257800"/>
            <a:ext cx="5524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4" name="shape-51">
            <a:extLst>
              <a:ext uri="{FF2B5EF4-FFF2-40B4-BE49-F238E27FC236}">
                <a16:creationId xmlns:a16="http://schemas.microsoft.com/office/drawing/2014/main" id="{7283ADC0-5033-4676-8AC4-5F1034DF70BA}"/>
              </a:ext>
            </a:extLst>
          </p:cNvPr>
          <p:cNvSpPr>
            <a:spLocks noGrp="1"/>
          </p:cNvSpPr>
          <p:nvPr/>
        </p:nvSpPr>
        <p:spPr>
          <a:xfrm>
            <a:off x="1171575" y="526732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24334B"/>
                </a:solidFill>
                <a:latin typeface="Pretendard SemiBold"/>
                <a:ea typeface="Pretendard SemiBold"/>
                <a:cs typeface="Pretendard SemiBold"/>
              </a:rPr>
              <a:t>참조모델 개발 업무에서의 활용</a:t>
            </a:r>
          </a:p>
        </p:txBody>
      </p:sp>
      <p:sp>
        <p:nvSpPr>
          <p:cNvPr id="35" name="shape-52">
            <a:extLst>
              <a:ext uri="{FF2B5EF4-FFF2-40B4-BE49-F238E27FC236}">
                <a16:creationId xmlns:a16="http://schemas.microsoft.com/office/drawing/2014/main" id="{10ACA8AB-5981-4140-8B45-6ACF201D02D1}"/>
              </a:ext>
            </a:extLst>
          </p:cNvPr>
          <p:cNvSpPr>
            <a:spLocks noGrp="1"/>
          </p:cNvSpPr>
          <p:nvPr/>
        </p:nvSpPr>
        <p:spPr>
          <a:xfrm>
            <a:off x="5743575" y="5286375"/>
            <a:ext cx="7334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11</a:t>
            </a:r>
          </a:p>
        </p:txBody>
      </p:sp>
      <p:sp>
        <p:nvSpPr>
          <p:cNvPr id="38" name="shape-55">
            <a:extLst>
              <a:ext uri="{FF2B5EF4-FFF2-40B4-BE49-F238E27FC236}">
                <a16:creationId xmlns:a16="http://schemas.microsoft.com/office/drawing/2014/main" id="{F43D49B8-8B02-455C-9578-6CB743B76702}"/>
              </a:ext>
            </a:extLst>
          </p:cNvPr>
          <p:cNvSpPr>
            <a:spLocks noGrp="1"/>
          </p:cNvSpPr>
          <p:nvPr/>
        </p:nvSpPr>
        <p:spPr>
          <a:xfrm>
            <a:off x="7419975" y="200977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100" b="1">
                <a:solidFill>
                  <a:srgbClr val="244B6D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39" name="shape-56">
            <a:extLst>
              <a:ext uri="{FF2B5EF4-FFF2-40B4-BE49-F238E27FC236}">
                <a16:creationId xmlns:a16="http://schemas.microsoft.com/office/drawing/2014/main" id="{DA10F8F8-2A72-402B-BCA0-9EA0DC01AA1D}"/>
              </a:ext>
            </a:extLst>
          </p:cNvPr>
          <p:cNvSpPr>
            <a:spLocks noGrp="1"/>
          </p:cNvSpPr>
          <p:nvPr/>
        </p:nvSpPr>
        <p:spPr>
          <a:xfrm>
            <a:off x="10763250" y="2066925"/>
            <a:ext cx="914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r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12–21</a:t>
            </a:r>
          </a:p>
        </p:txBody>
      </p:sp>
      <p:sp>
        <p:nvSpPr>
          <p:cNvPr id="40" name="shape-57">
            <a:extLst>
              <a:ext uri="{FF2B5EF4-FFF2-40B4-BE49-F238E27FC236}">
                <a16:creationId xmlns:a16="http://schemas.microsoft.com/office/drawing/2014/main" id="{5A5FF847-FE3F-4A3B-BACA-26A5ED837C46}"/>
              </a:ext>
            </a:extLst>
          </p:cNvPr>
          <p:cNvSpPr>
            <a:spLocks noGrp="1"/>
          </p:cNvSpPr>
          <p:nvPr/>
        </p:nvSpPr>
        <p:spPr>
          <a:xfrm>
            <a:off x="7419975" y="2638425"/>
            <a:ext cx="425767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시스템·검색 구조</a:t>
            </a:r>
          </a:p>
        </p:txBody>
      </p:sp>
      <p:sp>
        <p:nvSpPr>
          <p:cNvPr id="41" name="shape-58">
            <a:extLst>
              <a:ext uri="{FF2B5EF4-FFF2-40B4-BE49-F238E27FC236}">
                <a16:creationId xmlns:a16="http://schemas.microsoft.com/office/drawing/2014/main" id="{9DD5DC9A-A729-4642-BB5E-C73A5ACD2EF5}"/>
              </a:ext>
            </a:extLst>
          </p:cNvPr>
          <p:cNvSpPr>
            <a:spLocks noGrp="1"/>
          </p:cNvSpPr>
          <p:nvPr/>
        </p:nvSpPr>
        <p:spPr>
          <a:xfrm>
            <a:off x="7419975" y="3067050"/>
            <a:ext cx="425767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시스템 구성 · 사전 통합</a:t>
            </a:r>
          </a:p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후보 순위 · 적용 조건별 의미 구분</a:t>
            </a:r>
          </a:p>
        </p:txBody>
      </p:sp>
      <p:sp>
        <p:nvSpPr>
          <p:cNvPr id="42" name="shape-59">
            <a:extLst>
              <a:ext uri="{FF2B5EF4-FFF2-40B4-BE49-F238E27FC236}">
                <a16:creationId xmlns:a16="http://schemas.microsoft.com/office/drawing/2014/main" id="{48562065-9DAB-4907-86F3-12629E52D42B}"/>
              </a:ext>
            </a:extLst>
          </p:cNvPr>
          <p:cNvSpPr>
            <a:spLocks noGrp="1"/>
          </p:cNvSpPr>
          <p:nvPr/>
        </p:nvSpPr>
        <p:spPr>
          <a:xfrm>
            <a:off x="7419975" y="3790950"/>
            <a:ext cx="425767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AI·기록·일괄 처리</a:t>
            </a:r>
          </a:p>
        </p:txBody>
      </p:sp>
      <p:sp>
        <p:nvSpPr>
          <p:cNvPr id="43" name="shape-60">
            <a:extLst>
              <a:ext uri="{FF2B5EF4-FFF2-40B4-BE49-F238E27FC236}">
                <a16:creationId xmlns:a16="http://schemas.microsoft.com/office/drawing/2014/main" id="{87BA1EEB-D632-4515-9184-F1F30C8D9822}"/>
              </a:ext>
            </a:extLst>
          </p:cNvPr>
          <p:cNvSpPr>
            <a:spLocks noGrp="1"/>
          </p:cNvSpPr>
          <p:nvPr/>
        </p:nvSpPr>
        <p:spPr>
          <a:xfrm>
            <a:off x="7419975" y="4219575"/>
            <a:ext cx="425767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AI 실행·처리 결과 재사용</a:t>
            </a:r>
          </a:p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확정 이력 · 엑셀 일괄 검색</a:t>
            </a:r>
          </a:p>
        </p:txBody>
      </p:sp>
      <p:sp>
        <p:nvSpPr>
          <p:cNvPr id="44" name="shape-61">
            <a:extLst>
              <a:ext uri="{FF2B5EF4-FFF2-40B4-BE49-F238E27FC236}">
                <a16:creationId xmlns:a16="http://schemas.microsoft.com/office/drawing/2014/main" id="{9B4DA85F-BE81-418A-93F9-0D3693F50F0E}"/>
              </a:ext>
            </a:extLst>
          </p:cNvPr>
          <p:cNvSpPr>
            <a:spLocks noGrp="1"/>
          </p:cNvSpPr>
          <p:nvPr/>
        </p:nvSpPr>
        <p:spPr>
          <a:xfrm>
            <a:off x="7419975" y="4943475"/>
            <a:ext cx="425767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배포 및 검증</a:t>
            </a:r>
          </a:p>
        </p:txBody>
      </p:sp>
      <p:sp>
        <p:nvSpPr>
          <p:cNvPr id="45" name="shape-62">
            <a:extLst>
              <a:ext uri="{FF2B5EF4-FFF2-40B4-BE49-F238E27FC236}">
                <a16:creationId xmlns:a16="http://schemas.microsoft.com/office/drawing/2014/main" id="{25F32B70-0A1B-4576-A3FB-4C70C51819E5}"/>
              </a:ext>
            </a:extLst>
          </p:cNvPr>
          <p:cNvSpPr>
            <a:spLocks noGrp="1"/>
          </p:cNvSpPr>
          <p:nvPr/>
        </p:nvSpPr>
        <p:spPr>
          <a:xfrm>
            <a:off x="7419975" y="5372100"/>
            <a:ext cx="425767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실행 패키지와 사전 연결</a:t>
            </a:r>
          </a:p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검증 설계와 결과 해석</a:t>
            </a:r>
          </a:p>
        </p:txBody>
      </p:sp>
      <p:sp>
        <p:nvSpPr>
          <p:cNvPr id="20" name="shape-54">
            <a:extLst>
              <a:ext uri="{FF2B5EF4-FFF2-40B4-BE49-F238E27FC236}">
                <a16:creationId xmlns:a16="http://schemas.microsoft.com/office/drawing/2014/main" id="{FE3785FF-CAA4-7741-CC43-DFA589081A86}"/>
              </a:ext>
            </a:extLst>
          </p:cNvPr>
          <p:cNvSpPr>
            <a:spLocks noGrp="1"/>
          </p:cNvSpPr>
          <p:nvPr/>
        </p:nvSpPr>
        <p:spPr>
          <a:xfrm>
            <a:off x="6943725" y="2019300"/>
            <a:ext cx="9525" cy="39338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2897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-63">
            <a:extLst>
              <a:ext uri="{FF2B5EF4-FFF2-40B4-BE49-F238E27FC236}">
                <a16:creationId xmlns:a16="http://schemas.microsoft.com/office/drawing/2014/main" id="{90064EA8-CF73-44CF-B47B-323C62192C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64">
            <a:extLst>
              <a:ext uri="{FF2B5EF4-FFF2-40B4-BE49-F238E27FC236}">
                <a16:creationId xmlns:a16="http://schemas.microsoft.com/office/drawing/2014/main" id="{945177A8-E4AC-4D22-A568-CDEF2B1201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65">
            <a:extLst>
              <a:ext uri="{FF2B5EF4-FFF2-40B4-BE49-F238E27FC236}">
                <a16:creationId xmlns:a16="http://schemas.microsoft.com/office/drawing/2014/main" id="{E5BE2EC4-DE68-4E47-A207-2440D088E8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66">
            <a:extLst>
              <a:ext uri="{FF2B5EF4-FFF2-40B4-BE49-F238E27FC236}">
                <a16:creationId xmlns:a16="http://schemas.microsoft.com/office/drawing/2014/main" id="{65147967-71A7-43A8-AADF-7CC62E681F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67">
            <a:extLst>
              <a:ext uri="{FF2B5EF4-FFF2-40B4-BE49-F238E27FC236}">
                <a16:creationId xmlns:a16="http://schemas.microsoft.com/office/drawing/2014/main" id="{CDD431F2-BB63-45F5-9F6E-4068FEDD789B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68">
            <a:extLst>
              <a:ext uri="{FF2B5EF4-FFF2-40B4-BE49-F238E27FC236}">
                <a16:creationId xmlns:a16="http://schemas.microsoft.com/office/drawing/2014/main" id="{05010A59-638C-4125-916C-8E988CCB48FB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69">
            <a:extLst>
              <a:ext uri="{FF2B5EF4-FFF2-40B4-BE49-F238E27FC236}">
                <a16:creationId xmlns:a16="http://schemas.microsoft.com/office/drawing/2014/main" id="{05EA9D67-3C40-4B22-A055-504A7BC095E1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70">
            <a:extLst>
              <a:ext uri="{FF2B5EF4-FFF2-40B4-BE49-F238E27FC236}">
                <a16:creationId xmlns:a16="http://schemas.microsoft.com/office/drawing/2014/main" id="{FE36CB1F-7D70-4DAE-9E14-2BA00F39D940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I.-1</a:t>
            </a:r>
          </a:p>
        </p:txBody>
      </p:sp>
      <p:sp>
        <p:nvSpPr>
          <p:cNvPr id="9" name="shape-71">
            <a:extLst>
              <a:ext uri="{FF2B5EF4-FFF2-40B4-BE49-F238E27FC236}">
                <a16:creationId xmlns:a16="http://schemas.microsoft.com/office/drawing/2014/main" id="{BDFB0C1C-72E1-418D-B85F-9A6635386516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개발 개요</a:t>
            </a:r>
          </a:p>
        </p:txBody>
      </p:sp>
      <p:sp>
        <p:nvSpPr>
          <p:cNvPr id="10" name="shape-72">
            <a:extLst>
              <a:ext uri="{FF2B5EF4-FFF2-40B4-BE49-F238E27FC236}">
                <a16:creationId xmlns:a16="http://schemas.microsoft.com/office/drawing/2014/main" id="{D86EA08E-CDEB-4E08-8C53-F83D0E20A2E4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개발 배경</a:t>
            </a:r>
          </a:p>
        </p:txBody>
      </p:sp>
      <p:sp>
        <p:nvSpPr>
          <p:cNvPr id="11" name="shape-73">
            <a:extLst>
              <a:ext uri="{FF2B5EF4-FFF2-40B4-BE49-F238E27FC236}">
                <a16:creationId xmlns:a16="http://schemas.microsoft.com/office/drawing/2014/main" id="{B92FE2DD-7890-47EA-B667-948942E4C0B0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제조사명 표준 매핑 사례로 본 사전 탐색 부담과 담당자별 판단 편차</a:t>
            </a:r>
          </a:p>
        </p:txBody>
      </p:sp>
      <p:sp>
        <p:nvSpPr>
          <p:cNvPr id="12" name="shape-74">
            <a:extLst>
              <a:ext uri="{FF2B5EF4-FFF2-40B4-BE49-F238E27FC236}">
                <a16:creationId xmlns:a16="http://schemas.microsoft.com/office/drawing/2014/main" id="{AFEDF84E-B77A-40B4-9E66-755F2A24F277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75">
            <a:extLst>
              <a:ext uri="{FF2B5EF4-FFF2-40B4-BE49-F238E27FC236}">
                <a16:creationId xmlns:a16="http://schemas.microsoft.com/office/drawing/2014/main" id="{EB8E5BA8-9B27-4AAB-9953-EA150C56ADA2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76">
            <a:extLst>
              <a:ext uri="{FF2B5EF4-FFF2-40B4-BE49-F238E27FC236}">
                <a16:creationId xmlns:a16="http://schemas.microsoft.com/office/drawing/2014/main" id="{CA568D3B-E52E-4778-9EA3-31850A02ADF6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77">
            <a:extLst>
              <a:ext uri="{FF2B5EF4-FFF2-40B4-BE49-F238E27FC236}">
                <a16:creationId xmlns:a16="http://schemas.microsoft.com/office/drawing/2014/main" id="{C2FBD062-1A13-43E6-9BA2-75629B7F399C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D49474A-043A-493F-8E86-354238324C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700"/>
          <a:stretch/>
        </p:blipFill>
        <p:spPr>
          <a:xfrm>
            <a:off x="738187" y="1866900"/>
            <a:ext cx="10315575" cy="4029075"/>
          </a:xfrm>
          <a:prstGeom prst="rect">
            <a:avLst/>
          </a:prstGeom>
        </p:spPr>
      </p:pic>
      <p:sp>
        <p:nvSpPr>
          <p:cNvPr id="17" name="shape-78">
            <a:extLst>
              <a:ext uri="{FF2B5EF4-FFF2-40B4-BE49-F238E27FC236}">
                <a16:creationId xmlns:a16="http://schemas.microsoft.com/office/drawing/2014/main" id="{F252F13F-78AE-4E4B-B817-1C2C32FE20A8}"/>
              </a:ext>
            </a:extLst>
          </p:cNvPr>
          <p:cNvSpPr>
            <a:spLocks noGrp="1"/>
          </p:cNvSpPr>
          <p:nvPr/>
        </p:nvSpPr>
        <p:spPr>
          <a:xfrm>
            <a:off x="514350" y="6076950"/>
            <a:ext cx="111633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계획서의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표준자료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활용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방향을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표현한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제조사명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예시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·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현재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구현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범위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: ECLASS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검색·검토</a:t>
            </a:r>
            <a:r>
              <a:rPr sz="1350" b="0" dirty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350" b="0" dirty="0" err="1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지원</a:t>
            </a:r>
            <a:endParaRPr sz="1350" b="0" dirty="0">
              <a:solidFill>
                <a:srgbClr val="63728A"/>
              </a:solidFill>
              <a:latin typeface="Pretendard Variable"/>
              <a:ea typeface="Pretendard Variable"/>
              <a:cs typeface="Pretendard Variable"/>
            </a:endParaRPr>
          </a:p>
        </p:txBody>
      </p:sp>
    </p:spTree>
    <p:extLst>
      <p:ext uri="{BB962C8B-B14F-4D97-AF65-F5344CB8AC3E}">
        <p14:creationId xmlns:p14="http://schemas.microsoft.com/office/powerpoint/2010/main" val="1658939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-79">
            <a:extLst>
              <a:ext uri="{FF2B5EF4-FFF2-40B4-BE49-F238E27FC236}">
                <a16:creationId xmlns:a16="http://schemas.microsoft.com/office/drawing/2014/main" id="{7EDF33A0-AD11-4885-8982-576A28D346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80">
            <a:extLst>
              <a:ext uri="{FF2B5EF4-FFF2-40B4-BE49-F238E27FC236}">
                <a16:creationId xmlns:a16="http://schemas.microsoft.com/office/drawing/2014/main" id="{D3B876FB-A5C2-4D21-83D0-A16D6B5E42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81">
            <a:extLst>
              <a:ext uri="{FF2B5EF4-FFF2-40B4-BE49-F238E27FC236}">
                <a16:creationId xmlns:a16="http://schemas.microsoft.com/office/drawing/2014/main" id="{F3CD3172-210A-4274-9898-6257B40570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82">
            <a:extLst>
              <a:ext uri="{FF2B5EF4-FFF2-40B4-BE49-F238E27FC236}">
                <a16:creationId xmlns:a16="http://schemas.microsoft.com/office/drawing/2014/main" id="{89AACAA7-AF00-4363-8385-3CA58D0206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83">
            <a:extLst>
              <a:ext uri="{FF2B5EF4-FFF2-40B4-BE49-F238E27FC236}">
                <a16:creationId xmlns:a16="http://schemas.microsoft.com/office/drawing/2014/main" id="{F2C12787-6D95-4E32-BEC0-4DD64C7DEA54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84">
            <a:extLst>
              <a:ext uri="{FF2B5EF4-FFF2-40B4-BE49-F238E27FC236}">
                <a16:creationId xmlns:a16="http://schemas.microsoft.com/office/drawing/2014/main" id="{4C44CF28-D5A8-427D-9103-4826F0A2B834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85">
            <a:extLst>
              <a:ext uri="{FF2B5EF4-FFF2-40B4-BE49-F238E27FC236}">
                <a16:creationId xmlns:a16="http://schemas.microsoft.com/office/drawing/2014/main" id="{578C05B2-8D22-42E7-AAE9-D6C295EA36B9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86">
            <a:extLst>
              <a:ext uri="{FF2B5EF4-FFF2-40B4-BE49-F238E27FC236}">
                <a16:creationId xmlns:a16="http://schemas.microsoft.com/office/drawing/2014/main" id="{4178DD07-F4B5-418E-A34C-D40E10F209C6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I.-2</a:t>
            </a:r>
          </a:p>
        </p:txBody>
      </p:sp>
      <p:sp>
        <p:nvSpPr>
          <p:cNvPr id="9" name="shape-87">
            <a:extLst>
              <a:ext uri="{FF2B5EF4-FFF2-40B4-BE49-F238E27FC236}">
                <a16:creationId xmlns:a16="http://schemas.microsoft.com/office/drawing/2014/main" id="{F06C73F0-D23A-4500-8C81-3A6A9F66A70A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개발 개요</a:t>
            </a:r>
          </a:p>
        </p:txBody>
      </p:sp>
      <p:sp>
        <p:nvSpPr>
          <p:cNvPr id="10" name="shape-88">
            <a:extLst>
              <a:ext uri="{FF2B5EF4-FFF2-40B4-BE49-F238E27FC236}">
                <a16:creationId xmlns:a16="http://schemas.microsoft.com/office/drawing/2014/main" id="{24042F31-7191-451C-8575-5A1B58AB5127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개발 현황</a:t>
            </a:r>
          </a:p>
        </p:txBody>
      </p:sp>
      <p:sp>
        <p:nvSpPr>
          <p:cNvPr id="11" name="shape-89">
            <a:extLst>
              <a:ext uri="{FF2B5EF4-FFF2-40B4-BE49-F238E27FC236}">
                <a16:creationId xmlns:a16="http://schemas.microsoft.com/office/drawing/2014/main" id="{B9B3981D-A8D1-498F-88DF-DF26E8531CCB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ECLASS 사전 기반의 오프라인 실행 프로그램과 단일·일괄 검색 기능 구현</a:t>
            </a:r>
          </a:p>
        </p:txBody>
      </p:sp>
      <p:sp>
        <p:nvSpPr>
          <p:cNvPr id="12" name="shape-90">
            <a:extLst>
              <a:ext uri="{FF2B5EF4-FFF2-40B4-BE49-F238E27FC236}">
                <a16:creationId xmlns:a16="http://schemas.microsoft.com/office/drawing/2014/main" id="{A0B354A0-AB4C-4718-ADA2-01E14FDFCC50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91">
            <a:extLst>
              <a:ext uri="{FF2B5EF4-FFF2-40B4-BE49-F238E27FC236}">
                <a16:creationId xmlns:a16="http://schemas.microsoft.com/office/drawing/2014/main" id="{2C6740A6-FDD0-4302-AC18-A15D42DA4729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92">
            <a:extLst>
              <a:ext uri="{FF2B5EF4-FFF2-40B4-BE49-F238E27FC236}">
                <a16:creationId xmlns:a16="http://schemas.microsoft.com/office/drawing/2014/main" id="{E28B1808-A55A-4297-BB53-6582E2249153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93">
            <a:extLst>
              <a:ext uri="{FF2B5EF4-FFF2-40B4-BE49-F238E27FC236}">
                <a16:creationId xmlns:a16="http://schemas.microsoft.com/office/drawing/2014/main" id="{DD99C682-09DD-4B08-B528-666F4C1B7D49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BB8A7D0-81CA-399A-4455-55D0F6138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458" y="1805649"/>
            <a:ext cx="9921342" cy="46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94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-107">
            <a:extLst>
              <a:ext uri="{FF2B5EF4-FFF2-40B4-BE49-F238E27FC236}">
                <a16:creationId xmlns:a16="http://schemas.microsoft.com/office/drawing/2014/main" id="{29F8D2AE-A332-4CA1-8057-48405EC0D8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108">
            <a:extLst>
              <a:ext uri="{FF2B5EF4-FFF2-40B4-BE49-F238E27FC236}">
                <a16:creationId xmlns:a16="http://schemas.microsoft.com/office/drawing/2014/main" id="{F0FF5865-5ECA-4C97-8189-93DF2668EC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109">
            <a:extLst>
              <a:ext uri="{FF2B5EF4-FFF2-40B4-BE49-F238E27FC236}">
                <a16:creationId xmlns:a16="http://schemas.microsoft.com/office/drawing/2014/main" id="{29141BBD-A124-4B6A-9584-ACAE923F85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110">
            <a:extLst>
              <a:ext uri="{FF2B5EF4-FFF2-40B4-BE49-F238E27FC236}">
                <a16:creationId xmlns:a16="http://schemas.microsoft.com/office/drawing/2014/main" id="{01C32BA8-8405-4ABF-A171-30EEAC7599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111">
            <a:extLst>
              <a:ext uri="{FF2B5EF4-FFF2-40B4-BE49-F238E27FC236}">
                <a16:creationId xmlns:a16="http://schemas.microsoft.com/office/drawing/2014/main" id="{D027C840-5572-4FE6-93F5-272A049E2E96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112">
            <a:extLst>
              <a:ext uri="{FF2B5EF4-FFF2-40B4-BE49-F238E27FC236}">
                <a16:creationId xmlns:a16="http://schemas.microsoft.com/office/drawing/2014/main" id="{14BB94B4-C223-4382-BFAC-FAC65C240ECB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113">
            <a:extLst>
              <a:ext uri="{FF2B5EF4-FFF2-40B4-BE49-F238E27FC236}">
                <a16:creationId xmlns:a16="http://schemas.microsoft.com/office/drawing/2014/main" id="{27A1CDE1-F2B9-42BA-AF9B-F4742038F601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114">
            <a:extLst>
              <a:ext uri="{FF2B5EF4-FFF2-40B4-BE49-F238E27FC236}">
                <a16:creationId xmlns:a16="http://schemas.microsoft.com/office/drawing/2014/main" id="{1D906DEC-C0FD-42EB-A494-2C9ABBDEB975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II.-1</a:t>
            </a:r>
          </a:p>
        </p:txBody>
      </p:sp>
      <p:sp>
        <p:nvSpPr>
          <p:cNvPr id="9" name="shape-115">
            <a:extLst>
              <a:ext uri="{FF2B5EF4-FFF2-40B4-BE49-F238E27FC236}">
                <a16:creationId xmlns:a16="http://schemas.microsoft.com/office/drawing/2014/main" id="{D237ED64-D006-4867-8309-A6BA40D9DEA8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주요 기능</a:t>
            </a:r>
          </a:p>
        </p:txBody>
      </p:sp>
      <p:sp>
        <p:nvSpPr>
          <p:cNvPr id="10" name="shape-116">
            <a:extLst>
              <a:ext uri="{FF2B5EF4-FFF2-40B4-BE49-F238E27FC236}">
                <a16:creationId xmlns:a16="http://schemas.microsoft.com/office/drawing/2014/main" id="{7249D284-E7E7-49D4-A536-7EDAE435105C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도구의 역할과 사용 흐름</a:t>
            </a:r>
          </a:p>
        </p:txBody>
      </p:sp>
      <p:sp>
        <p:nvSpPr>
          <p:cNvPr id="11" name="shape-117">
            <a:extLst>
              <a:ext uri="{FF2B5EF4-FFF2-40B4-BE49-F238E27FC236}">
                <a16:creationId xmlns:a16="http://schemas.microsoft.com/office/drawing/2014/main" id="{DE8E2C42-1A81-4F90-A8B2-7E77393A77D7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검색 후보 제시부터 사용자 검토·확정 이력 관리까지의 연속 지원</a:t>
            </a:r>
          </a:p>
        </p:txBody>
      </p:sp>
      <p:sp>
        <p:nvSpPr>
          <p:cNvPr id="12" name="shape-118">
            <a:extLst>
              <a:ext uri="{FF2B5EF4-FFF2-40B4-BE49-F238E27FC236}">
                <a16:creationId xmlns:a16="http://schemas.microsoft.com/office/drawing/2014/main" id="{CB9A339D-04D0-456C-A017-FD099BF764B3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119">
            <a:extLst>
              <a:ext uri="{FF2B5EF4-FFF2-40B4-BE49-F238E27FC236}">
                <a16:creationId xmlns:a16="http://schemas.microsoft.com/office/drawing/2014/main" id="{675DF800-0457-4F50-AB82-9FC6813B4898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120">
            <a:extLst>
              <a:ext uri="{FF2B5EF4-FFF2-40B4-BE49-F238E27FC236}">
                <a16:creationId xmlns:a16="http://schemas.microsoft.com/office/drawing/2014/main" id="{4EC10AFB-E1EC-4BC9-83B8-9649CC18719B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121">
            <a:extLst>
              <a:ext uri="{FF2B5EF4-FFF2-40B4-BE49-F238E27FC236}">
                <a16:creationId xmlns:a16="http://schemas.microsoft.com/office/drawing/2014/main" id="{E60DC134-44E5-4A7D-B063-B5EE16668E88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40B7276-C561-4346-9C42-8D379D9D6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2488" y="2019300"/>
            <a:ext cx="10487025" cy="3495675"/>
          </a:xfrm>
          <a:prstGeom prst="rect">
            <a:avLst/>
          </a:prstGeom>
        </p:spPr>
      </p:pic>
      <p:sp>
        <p:nvSpPr>
          <p:cNvPr id="17" name="shape-122">
            <a:extLst>
              <a:ext uri="{FF2B5EF4-FFF2-40B4-BE49-F238E27FC236}">
                <a16:creationId xmlns:a16="http://schemas.microsoft.com/office/drawing/2014/main" id="{DAA456A5-BE7F-4CB1-BBFA-4D2A3436FEE7}"/>
              </a:ext>
            </a:extLst>
          </p:cNvPr>
          <p:cNvSpPr>
            <a:spLocks noGrp="1"/>
          </p:cNvSpPr>
          <p:nvPr/>
        </p:nvSpPr>
        <p:spPr>
          <a:xfrm>
            <a:off x="514350" y="5591175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사전·검색 항목 연결</a:t>
            </a:r>
          </a:p>
        </p:txBody>
      </p:sp>
      <p:sp>
        <p:nvSpPr>
          <p:cNvPr id="18" name="shape-123">
            <a:extLst>
              <a:ext uri="{FF2B5EF4-FFF2-40B4-BE49-F238E27FC236}">
                <a16:creationId xmlns:a16="http://schemas.microsoft.com/office/drawing/2014/main" id="{2D6DA222-F983-4F85-8EAE-386A7DFEE532}"/>
              </a:ext>
            </a:extLst>
          </p:cNvPr>
          <p:cNvSpPr>
            <a:spLocks noGrp="1"/>
          </p:cNvSpPr>
          <p:nvPr/>
        </p:nvSpPr>
        <p:spPr>
          <a:xfrm>
            <a:off x="514350" y="5972175"/>
            <a:ext cx="34766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보유 사전과 단일·엑셀 입력 활용</a:t>
            </a:r>
          </a:p>
        </p:txBody>
      </p:sp>
      <p:sp>
        <p:nvSpPr>
          <p:cNvPr id="19" name="shape-124">
            <a:extLst>
              <a:ext uri="{FF2B5EF4-FFF2-40B4-BE49-F238E27FC236}">
                <a16:creationId xmlns:a16="http://schemas.microsoft.com/office/drawing/2014/main" id="{F8B81D74-7703-4B20-A5B6-E2089FA1F141}"/>
              </a:ext>
            </a:extLst>
          </p:cNvPr>
          <p:cNvSpPr>
            <a:spLocks noGrp="1"/>
          </p:cNvSpPr>
          <p:nvPr/>
        </p:nvSpPr>
        <p:spPr>
          <a:xfrm>
            <a:off x="4324350" y="5591175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표준 의미 검토 후 확정</a:t>
            </a:r>
          </a:p>
        </p:txBody>
      </p:sp>
      <p:sp>
        <p:nvSpPr>
          <p:cNvPr id="20" name="shape-125">
            <a:extLst>
              <a:ext uri="{FF2B5EF4-FFF2-40B4-BE49-F238E27FC236}">
                <a16:creationId xmlns:a16="http://schemas.microsoft.com/office/drawing/2014/main" id="{C0E6DD20-2B47-410C-AE5E-01B4C2901D7E}"/>
              </a:ext>
            </a:extLst>
          </p:cNvPr>
          <p:cNvSpPr>
            <a:spLocks noGrp="1"/>
          </p:cNvSpPr>
          <p:nvPr/>
        </p:nvSpPr>
        <p:spPr>
          <a:xfrm>
            <a:off x="4324350" y="5972175"/>
            <a:ext cx="34766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정의·사용 조건을 비교해 최종 선택</a:t>
            </a:r>
          </a:p>
        </p:txBody>
      </p:sp>
      <p:sp>
        <p:nvSpPr>
          <p:cNvPr id="21" name="shape-126">
            <a:extLst>
              <a:ext uri="{FF2B5EF4-FFF2-40B4-BE49-F238E27FC236}">
                <a16:creationId xmlns:a16="http://schemas.microsoft.com/office/drawing/2014/main" id="{87CC247A-44FD-4DF0-B4B3-DDCDC8FD3921}"/>
              </a:ext>
            </a:extLst>
          </p:cNvPr>
          <p:cNvSpPr>
            <a:spLocks noGrp="1"/>
          </p:cNvSpPr>
          <p:nvPr/>
        </p:nvSpPr>
        <p:spPr>
          <a:xfrm>
            <a:off x="8134350" y="5591175"/>
            <a:ext cx="3543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선정 근거의 기록·재사용</a:t>
            </a:r>
          </a:p>
        </p:txBody>
      </p:sp>
      <p:sp>
        <p:nvSpPr>
          <p:cNvPr id="22" name="shape-127">
            <a:extLst>
              <a:ext uri="{FF2B5EF4-FFF2-40B4-BE49-F238E27FC236}">
                <a16:creationId xmlns:a16="http://schemas.microsoft.com/office/drawing/2014/main" id="{B684C2A1-B13D-4A22-A667-27692B9D60AA}"/>
              </a:ext>
            </a:extLst>
          </p:cNvPr>
          <p:cNvSpPr>
            <a:spLocks noGrp="1"/>
          </p:cNvSpPr>
          <p:nvPr/>
        </p:nvSpPr>
        <p:spPr>
          <a:xfrm>
            <a:off x="8134350" y="5972175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확정 이력 조회·내보내기·삭제</a:t>
            </a:r>
          </a:p>
        </p:txBody>
      </p:sp>
    </p:spTree>
    <p:extLst>
      <p:ext uri="{BB962C8B-B14F-4D97-AF65-F5344CB8AC3E}">
        <p14:creationId xmlns:p14="http://schemas.microsoft.com/office/powerpoint/2010/main" val="1876737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-128">
            <a:extLst>
              <a:ext uri="{FF2B5EF4-FFF2-40B4-BE49-F238E27FC236}">
                <a16:creationId xmlns:a16="http://schemas.microsoft.com/office/drawing/2014/main" id="{C19564B0-B70D-431A-A84E-22FF2FC891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129">
            <a:extLst>
              <a:ext uri="{FF2B5EF4-FFF2-40B4-BE49-F238E27FC236}">
                <a16:creationId xmlns:a16="http://schemas.microsoft.com/office/drawing/2014/main" id="{F3DE76C6-13DC-4E9E-8095-5B86B5E65D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130">
            <a:extLst>
              <a:ext uri="{FF2B5EF4-FFF2-40B4-BE49-F238E27FC236}">
                <a16:creationId xmlns:a16="http://schemas.microsoft.com/office/drawing/2014/main" id="{ECDF3761-15CE-4F69-8093-026ADAF062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131">
            <a:extLst>
              <a:ext uri="{FF2B5EF4-FFF2-40B4-BE49-F238E27FC236}">
                <a16:creationId xmlns:a16="http://schemas.microsoft.com/office/drawing/2014/main" id="{277131E2-B9F5-4F54-82BD-299D0F118D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132">
            <a:extLst>
              <a:ext uri="{FF2B5EF4-FFF2-40B4-BE49-F238E27FC236}">
                <a16:creationId xmlns:a16="http://schemas.microsoft.com/office/drawing/2014/main" id="{3D52E0C8-CE36-408E-A41F-6C3679AC6247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133">
            <a:extLst>
              <a:ext uri="{FF2B5EF4-FFF2-40B4-BE49-F238E27FC236}">
                <a16:creationId xmlns:a16="http://schemas.microsoft.com/office/drawing/2014/main" id="{7C6561AC-15C3-4DE8-9490-47326A034AC5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134">
            <a:extLst>
              <a:ext uri="{FF2B5EF4-FFF2-40B4-BE49-F238E27FC236}">
                <a16:creationId xmlns:a16="http://schemas.microsoft.com/office/drawing/2014/main" id="{1E9AD294-B06A-4A9B-AA58-F7819C7DD6C8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135">
            <a:extLst>
              <a:ext uri="{FF2B5EF4-FFF2-40B4-BE49-F238E27FC236}">
                <a16:creationId xmlns:a16="http://schemas.microsoft.com/office/drawing/2014/main" id="{280A927F-834C-42F4-BA1E-C4E1095B40DF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II.-2</a:t>
            </a:r>
          </a:p>
        </p:txBody>
      </p:sp>
      <p:sp>
        <p:nvSpPr>
          <p:cNvPr id="9" name="shape-136">
            <a:extLst>
              <a:ext uri="{FF2B5EF4-FFF2-40B4-BE49-F238E27FC236}">
                <a16:creationId xmlns:a16="http://schemas.microsoft.com/office/drawing/2014/main" id="{5C2B5A96-D98D-4C17-9BF0-389818813D89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주요 기능</a:t>
            </a:r>
          </a:p>
        </p:txBody>
      </p:sp>
      <p:sp>
        <p:nvSpPr>
          <p:cNvPr id="10" name="shape-137">
            <a:extLst>
              <a:ext uri="{FF2B5EF4-FFF2-40B4-BE49-F238E27FC236}">
                <a16:creationId xmlns:a16="http://schemas.microsoft.com/office/drawing/2014/main" id="{1F67B00C-1B34-4966-835A-DD1DE733EB22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표준 정의를 근거로 한 후보 비교</a:t>
            </a:r>
          </a:p>
        </p:txBody>
      </p:sp>
      <p:sp>
        <p:nvSpPr>
          <p:cNvPr id="11" name="shape-138">
            <a:extLst>
              <a:ext uri="{FF2B5EF4-FFF2-40B4-BE49-F238E27FC236}">
                <a16:creationId xmlns:a16="http://schemas.microsoft.com/office/drawing/2014/main" id="{10633D8B-9D78-464E-B7CE-C156CA77E4D5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검색 결과·원문 정의·한국어 참고 번역을 한 화면에서 확인</a:t>
            </a:r>
          </a:p>
        </p:txBody>
      </p:sp>
      <p:sp>
        <p:nvSpPr>
          <p:cNvPr id="12" name="shape-139">
            <a:extLst>
              <a:ext uri="{FF2B5EF4-FFF2-40B4-BE49-F238E27FC236}">
                <a16:creationId xmlns:a16="http://schemas.microsoft.com/office/drawing/2014/main" id="{87B6BC58-8046-4CF2-83EB-E29CDC3CD27A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140">
            <a:extLst>
              <a:ext uri="{FF2B5EF4-FFF2-40B4-BE49-F238E27FC236}">
                <a16:creationId xmlns:a16="http://schemas.microsoft.com/office/drawing/2014/main" id="{17E49A92-B923-4BA0-918E-71228D11FD09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141">
            <a:extLst>
              <a:ext uri="{FF2B5EF4-FFF2-40B4-BE49-F238E27FC236}">
                <a16:creationId xmlns:a16="http://schemas.microsoft.com/office/drawing/2014/main" id="{21BABDBD-48BE-44B2-9A23-8A75E02079E1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142">
            <a:extLst>
              <a:ext uri="{FF2B5EF4-FFF2-40B4-BE49-F238E27FC236}">
                <a16:creationId xmlns:a16="http://schemas.microsoft.com/office/drawing/2014/main" id="{02068A23-22DA-4018-A17C-C6C1252E37C4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E2AFDFE-0880-4F0C-A447-13AA17AFD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5024" y="1959529"/>
            <a:ext cx="6603142" cy="4412696"/>
          </a:xfrm>
          <a:prstGeom prst="rect">
            <a:avLst/>
          </a:prstGeom>
        </p:spPr>
      </p:pic>
      <p:sp>
        <p:nvSpPr>
          <p:cNvPr id="17" name="shape-143">
            <a:extLst>
              <a:ext uri="{FF2B5EF4-FFF2-40B4-BE49-F238E27FC236}">
                <a16:creationId xmlns:a16="http://schemas.microsoft.com/office/drawing/2014/main" id="{2D37B746-EAA9-4995-BC12-0BBF9E5C36D0}"/>
              </a:ext>
            </a:extLst>
          </p:cNvPr>
          <p:cNvSpPr>
            <a:spLocks noGrp="1"/>
          </p:cNvSpPr>
          <p:nvPr/>
        </p:nvSpPr>
        <p:spPr>
          <a:xfrm>
            <a:off x="8058150" y="2085975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8" name="shape-144">
            <a:extLst>
              <a:ext uri="{FF2B5EF4-FFF2-40B4-BE49-F238E27FC236}">
                <a16:creationId xmlns:a16="http://schemas.microsoft.com/office/drawing/2014/main" id="{68C9E154-EEFE-44BA-BB20-98AE326782F3}"/>
              </a:ext>
            </a:extLst>
          </p:cNvPr>
          <p:cNvSpPr>
            <a:spLocks noGrp="1"/>
          </p:cNvSpPr>
          <p:nvPr/>
        </p:nvSpPr>
        <p:spPr>
          <a:xfrm>
            <a:off x="8582025" y="2085975"/>
            <a:ext cx="30956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표준 명칭·IRDI</a:t>
            </a:r>
          </a:p>
        </p:txBody>
      </p:sp>
      <p:sp>
        <p:nvSpPr>
          <p:cNvPr id="19" name="shape-145">
            <a:extLst>
              <a:ext uri="{FF2B5EF4-FFF2-40B4-BE49-F238E27FC236}">
                <a16:creationId xmlns:a16="http://schemas.microsoft.com/office/drawing/2014/main" id="{F45164B8-4CD8-41FD-818C-4E9EA8C6E118}"/>
              </a:ext>
            </a:extLst>
          </p:cNvPr>
          <p:cNvSpPr>
            <a:spLocks noGrp="1"/>
          </p:cNvSpPr>
          <p:nvPr/>
        </p:nvSpPr>
        <p:spPr>
          <a:xfrm>
            <a:off x="8582025" y="2562225"/>
            <a:ext cx="30956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연결한 사전의 실제 속성에서</a:t>
            </a:r>
          </a:p>
          <a:p>
            <a: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후보와 식별자를 조회</a:t>
            </a:r>
          </a:p>
        </p:txBody>
      </p:sp>
      <p:sp>
        <p:nvSpPr>
          <p:cNvPr id="20" name="shape-146">
            <a:extLst>
              <a:ext uri="{FF2B5EF4-FFF2-40B4-BE49-F238E27FC236}">
                <a16:creationId xmlns:a16="http://schemas.microsoft.com/office/drawing/2014/main" id="{ED613236-FFD4-48BB-9EBF-60F7BC1B3573}"/>
              </a:ext>
            </a:extLst>
          </p:cNvPr>
          <p:cNvSpPr>
            <a:spLocks noGrp="1"/>
          </p:cNvSpPr>
          <p:nvPr/>
        </p:nvSpPr>
        <p:spPr>
          <a:xfrm>
            <a:off x="8058150" y="3514725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1" name="shape-147">
            <a:extLst>
              <a:ext uri="{FF2B5EF4-FFF2-40B4-BE49-F238E27FC236}">
                <a16:creationId xmlns:a16="http://schemas.microsoft.com/office/drawing/2014/main" id="{C9099EBF-80B7-4CCE-99B9-2A78085600B7}"/>
              </a:ext>
            </a:extLst>
          </p:cNvPr>
          <p:cNvSpPr>
            <a:spLocks noGrp="1"/>
          </p:cNvSpPr>
          <p:nvPr/>
        </p:nvSpPr>
        <p:spPr>
          <a:xfrm>
            <a:off x="8582025" y="3514725"/>
            <a:ext cx="30956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한국어·영문 정의</a:t>
            </a:r>
          </a:p>
        </p:txBody>
      </p:sp>
      <p:sp>
        <p:nvSpPr>
          <p:cNvPr id="22" name="shape-148">
            <a:extLst>
              <a:ext uri="{FF2B5EF4-FFF2-40B4-BE49-F238E27FC236}">
                <a16:creationId xmlns:a16="http://schemas.microsoft.com/office/drawing/2014/main" id="{4CA64C7E-11FF-4B4E-B0F5-0AE98F2436E7}"/>
              </a:ext>
            </a:extLst>
          </p:cNvPr>
          <p:cNvSpPr>
            <a:spLocks noGrp="1"/>
          </p:cNvSpPr>
          <p:nvPr/>
        </p:nvSpPr>
        <p:spPr>
          <a:xfrm>
            <a:off x="8582025" y="3990975"/>
            <a:ext cx="30956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번역문과 원문을 함께 비교해</a:t>
            </a:r>
          </a:p>
          <a:p>
            <a: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항목의 의미를 검토</a:t>
            </a:r>
          </a:p>
        </p:txBody>
      </p:sp>
      <p:sp>
        <p:nvSpPr>
          <p:cNvPr id="23" name="shape-149">
            <a:extLst>
              <a:ext uri="{FF2B5EF4-FFF2-40B4-BE49-F238E27FC236}">
                <a16:creationId xmlns:a16="http://schemas.microsoft.com/office/drawing/2014/main" id="{70496727-12CA-4E42-A491-8CCA6BE0F89E}"/>
              </a:ext>
            </a:extLst>
          </p:cNvPr>
          <p:cNvSpPr>
            <a:spLocks noGrp="1"/>
          </p:cNvSpPr>
          <p:nvPr/>
        </p:nvSpPr>
        <p:spPr>
          <a:xfrm>
            <a:off x="8058150" y="4943475"/>
            <a:ext cx="476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4" name="shape-150">
            <a:extLst>
              <a:ext uri="{FF2B5EF4-FFF2-40B4-BE49-F238E27FC236}">
                <a16:creationId xmlns:a16="http://schemas.microsoft.com/office/drawing/2014/main" id="{0E555A1A-4CA3-415B-8EC2-57F43D21898F}"/>
              </a:ext>
            </a:extLst>
          </p:cNvPr>
          <p:cNvSpPr>
            <a:spLocks noGrp="1"/>
          </p:cNvSpPr>
          <p:nvPr/>
        </p:nvSpPr>
        <p:spPr>
          <a:xfrm>
            <a:off x="8582025" y="4943475"/>
            <a:ext cx="30956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95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적용 조건 확인</a:t>
            </a:r>
          </a:p>
        </p:txBody>
      </p:sp>
      <p:sp>
        <p:nvSpPr>
          <p:cNvPr id="25" name="shape-151">
            <a:extLst>
              <a:ext uri="{FF2B5EF4-FFF2-40B4-BE49-F238E27FC236}">
                <a16:creationId xmlns:a16="http://schemas.microsoft.com/office/drawing/2014/main" id="{66949A6A-A5F9-4E57-A54F-AF8D96657801}"/>
              </a:ext>
            </a:extLst>
          </p:cNvPr>
          <p:cNvSpPr>
            <a:spLocks noGrp="1"/>
          </p:cNvSpPr>
          <p:nvPr/>
        </p:nvSpPr>
        <p:spPr>
          <a:xfrm>
            <a:off x="8582025" y="5419725"/>
            <a:ext cx="30956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장비·대상·단위·값의 역할로</a:t>
            </a:r>
          </a:p>
          <a:p>
            <a:pPr algn="l">
              <a:def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해석 범위를 구체화</a:t>
            </a:r>
          </a:p>
        </p:txBody>
      </p:sp>
    </p:spTree>
    <p:extLst>
      <p:ext uri="{BB962C8B-B14F-4D97-AF65-F5344CB8AC3E}">
        <p14:creationId xmlns:p14="http://schemas.microsoft.com/office/powerpoint/2010/main" val="1529654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-152">
            <a:extLst>
              <a:ext uri="{FF2B5EF4-FFF2-40B4-BE49-F238E27FC236}">
                <a16:creationId xmlns:a16="http://schemas.microsoft.com/office/drawing/2014/main" id="{74779086-7442-4C8E-841A-3954DF5FCB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153">
            <a:extLst>
              <a:ext uri="{FF2B5EF4-FFF2-40B4-BE49-F238E27FC236}">
                <a16:creationId xmlns:a16="http://schemas.microsoft.com/office/drawing/2014/main" id="{B91283D4-BC36-4E1E-A5F2-0901F2475D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154">
            <a:extLst>
              <a:ext uri="{FF2B5EF4-FFF2-40B4-BE49-F238E27FC236}">
                <a16:creationId xmlns:a16="http://schemas.microsoft.com/office/drawing/2014/main" id="{9F7095B1-75FA-4668-9903-A3A5B7479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155">
            <a:extLst>
              <a:ext uri="{FF2B5EF4-FFF2-40B4-BE49-F238E27FC236}">
                <a16:creationId xmlns:a16="http://schemas.microsoft.com/office/drawing/2014/main" id="{9C1C7A14-DE98-4FE0-8417-79C20C8209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156">
            <a:extLst>
              <a:ext uri="{FF2B5EF4-FFF2-40B4-BE49-F238E27FC236}">
                <a16:creationId xmlns:a16="http://schemas.microsoft.com/office/drawing/2014/main" id="{F13DBCA2-1532-47A2-AA20-A48D47A60052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157">
            <a:extLst>
              <a:ext uri="{FF2B5EF4-FFF2-40B4-BE49-F238E27FC236}">
                <a16:creationId xmlns:a16="http://schemas.microsoft.com/office/drawing/2014/main" id="{7E7E73E3-74FB-41D7-8C67-3C56416CCAB5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158">
            <a:extLst>
              <a:ext uri="{FF2B5EF4-FFF2-40B4-BE49-F238E27FC236}">
                <a16:creationId xmlns:a16="http://schemas.microsoft.com/office/drawing/2014/main" id="{EB0A3A36-7C11-42B2-8B3C-FAEF6B641979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159">
            <a:extLst>
              <a:ext uri="{FF2B5EF4-FFF2-40B4-BE49-F238E27FC236}">
                <a16:creationId xmlns:a16="http://schemas.microsoft.com/office/drawing/2014/main" id="{1CB12776-0D1F-44A4-A2C1-EABC930E1075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II.-3</a:t>
            </a:r>
          </a:p>
        </p:txBody>
      </p:sp>
      <p:sp>
        <p:nvSpPr>
          <p:cNvPr id="9" name="shape-160">
            <a:extLst>
              <a:ext uri="{FF2B5EF4-FFF2-40B4-BE49-F238E27FC236}">
                <a16:creationId xmlns:a16="http://schemas.microsoft.com/office/drawing/2014/main" id="{73C64D56-3EE6-496B-B5A0-ED1C959ACC71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주요 기능</a:t>
            </a:r>
          </a:p>
        </p:txBody>
      </p:sp>
      <p:sp>
        <p:nvSpPr>
          <p:cNvPr id="10" name="shape-161">
            <a:extLst>
              <a:ext uri="{FF2B5EF4-FFF2-40B4-BE49-F238E27FC236}">
                <a16:creationId xmlns:a16="http://schemas.microsoft.com/office/drawing/2014/main" id="{06B140B8-CF56-4D80-AC53-1B8A76AF0B80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한국어 정의의 제공과 품질 관리</a:t>
            </a:r>
          </a:p>
        </p:txBody>
      </p:sp>
      <p:sp>
        <p:nvSpPr>
          <p:cNvPr id="11" name="shape-162">
            <a:extLst>
              <a:ext uri="{FF2B5EF4-FFF2-40B4-BE49-F238E27FC236}">
                <a16:creationId xmlns:a16="http://schemas.microsoft.com/office/drawing/2014/main" id="{0C56622F-4AA0-426D-9017-C6C673E8EA86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원문 언어·보완 번역·검사 결과를 구분하여 기술 문장의 오해를 최소화</a:t>
            </a:r>
          </a:p>
        </p:txBody>
      </p:sp>
      <p:sp>
        <p:nvSpPr>
          <p:cNvPr id="12" name="shape-163">
            <a:extLst>
              <a:ext uri="{FF2B5EF4-FFF2-40B4-BE49-F238E27FC236}">
                <a16:creationId xmlns:a16="http://schemas.microsoft.com/office/drawing/2014/main" id="{116B568F-7AF4-43C4-9D2E-FE59B6DEE9A2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164">
            <a:extLst>
              <a:ext uri="{FF2B5EF4-FFF2-40B4-BE49-F238E27FC236}">
                <a16:creationId xmlns:a16="http://schemas.microsoft.com/office/drawing/2014/main" id="{D4F8639B-6E84-41C7-B938-72E64EDE5A86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165">
            <a:extLst>
              <a:ext uri="{FF2B5EF4-FFF2-40B4-BE49-F238E27FC236}">
                <a16:creationId xmlns:a16="http://schemas.microsoft.com/office/drawing/2014/main" id="{C0EB9B74-CA6E-4219-A4CC-FFC4156882E6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166">
            <a:extLst>
              <a:ext uri="{FF2B5EF4-FFF2-40B4-BE49-F238E27FC236}">
                <a16:creationId xmlns:a16="http://schemas.microsoft.com/office/drawing/2014/main" id="{AED40958-855F-4EB6-94D4-4D4F35FD9ACF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76345D0-0A0C-4851-9CB7-3BBA1E4F54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587"/>
          <a:stretch>
            <a:fillRect/>
          </a:stretch>
        </p:blipFill>
        <p:spPr>
          <a:xfrm>
            <a:off x="502652" y="2050326"/>
            <a:ext cx="10851148" cy="3197949"/>
          </a:xfrm>
          <a:prstGeom prst="rect">
            <a:avLst/>
          </a:prstGeom>
        </p:spPr>
      </p:pic>
      <p:sp>
        <p:nvSpPr>
          <p:cNvPr id="17" name="shape-167">
            <a:extLst>
              <a:ext uri="{FF2B5EF4-FFF2-40B4-BE49-F238E27FC236}">
                <a16:creationId xmlns:a16="http://schemas.microsoft.com/office/drawing/2014/main" id="{955E69C1-DD57-4674-8D9C-7241066F397B}"/>
              </a:ext>
            </a:extLst>
          </p:cNvPr>
          <p:cNvSpPr>
            <a:spLocks noGrp="1"/>
          </p:cNvSpPr>
          <p:nvPr/>
        </p:nvSpPr>
        <p:spPr>
          <a:xfrm>
            <a:off x="514350" y="531495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 dirty="0" err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우선순위</a:t>
            </a:r>
            <a:endParaRPr sz="1875" b="1" dirty="0">
              <a:solidFill>
                <a:srgbClr val="1678D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9" name="shape-169">
            <a:extLst>
              <a:ext uri="{FF2B5EF4-FFF2-40B4-BE49-F238E27FC236}">
                <a16:creationId xmlns:a16="http://schemas.microsoft.com/office/drawing/2014/main" id="{FECC2FE2-2785-4150-9EA4-0BCB67B45710}"/>
              </a:ext>
            </a:extLst>
          </p:cNvPr>
          <p:cNvSpPr>
            <a:spLocks noGrp="1"/>
          </p:cNvSpPr>
          <p:nvPr/>
        </p:nvSpPr>
        <p:spPr>
          <a:xfrm>
            <a:off x="514350" y="5810250"/>
            <a:ext cx="11163300" cy="447675"/>
          </a:xfrm>
          <a:prstGeom prst="rect">
            <a:avLst/>
          </a:prstGeom>
          <a:solidFill>
            <a:srgbClr val="EFF7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-170">
            <a:extLst>
              <a:ext uri="{FF2B5EF4-FFF2-40B4-BE49-F238E27FC236}">
                <a16:creationId xmlns:a16="http://schemas.microsoft.com/office/drawing/2014/main" id="{57CFAD0D-185B-4164-9059-7E8C2EB2041C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불완전 원문은 확인 필요 표시 · 한국어 정의는 영문 원문과 함께 검토할 참고 정보</a:t>
            </a:r>
          </a:p>
        </p:txBody>
      </p:sp>
      <p:sp>
        <p:nvSpPr>
          <p:cNvPr id="9010" name="shape-162">
            <a:extLst>
              <a:ext uri="{FF2B5EF4-FFF2-40B4-BE49-F238E27FC236}">
                <a16:creationId xmlns:a16="http://schemas.microsoft.com/office/drawing/2014/main" id="{0C56622F-4AA0-426D-9017-C6C673E8EA86}"/>
              </a:ext>
            </a:extLst>
          </p:cNvPr>
          <p:cNvSpPr>
            <a:spLocks noGrp="1"/>
          </p:cNvSpPr>
          <p:nvPr/>
        </p:nvSpPr>
        <p:spPr>
          <a:xfrm>
            <a:off x="2571750" y="5353050"/>
            <a:ext cx="9048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원문 한국어 → 보완 번역 → 저장 결과 → 필요한 경우 로컬 AI 번역</a:t>
            </a:r>
          </a:p>
        </p:txBody>
      </p:sp>
    </p:spTree>
    <p:extLst>
      <p:ext uri="{BB962C8B-B14F-4D97-AF65-F5344CB8AC3E}">
        <p14:creationId xmlns:p14="http://schemas.microsoft.com/office/powerpoint/2010/main" val="980703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-171">
            <a:extLst>
              <a:ext uri="{FF2B5EF4-FFF2-40B4-BE49-F238E27FC236}">
                <a16:creationId xmlns:a16="http://schemas.microsoft.com/office/drawing/2014/main" id="{3E733CCF-4387-4B8F-B6AE-29A7D9464F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172">
            <a:extLst>
              <a:ext uri="{FF2B5EF4-FFF2-40B4-BE49-F238E27FC236}">
                <a16:creationId xmlns:a16="http://schemas.microsoft.com/office/drawing/2014/main" id="{F5780F80-B662-4EA0-AEBF-2820CDFC4C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173">
            <a:extLst>
              <a:ext uri="{FF2B5EF4-FFF2-40B4-BE49-F238E27FC236}">
                <a16:creationId xmlns:a16="http://schemas.microsoft.com/office/drawing/2014/main" id="{A9A79708-63F3-4396-B900-9F44708F22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174">
            <a:extLst>
              <a:ext uri="{FF2B5EF4-FFF2-40B4-BE49-F238E27FC236}">
                <a16:creationId xmlns:a16="http://schemas.microsoft.com/office/drawing/2014/main" id="{E639BF55-95B4-462C-B917-1E252DBCE5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175">
            <a:extLst>
              <a:ext uri="{FF2B5EF4-FFF2-40B4-BE49-F238E27FC236}">
                <a16:creationId xmlns:a16="http://schemas.microsoft.com/office/drawing/2014/main" id="{1CE335C5-D7C0-499E-94E5-2A65B31F27D3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176">
            <a:extLst>
              <a:ext uri="{FF2B5EF4-FFF2-40B4-BE49-F238E27FC236}">
                <a16:creationId xmlns:a16="http://schemas.microsoft.com/office/drawing/2014/main" id="{EE8C4B82-2FE7-46F3-B18E-19F7B0E7DA1B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177">
            <a:extLst>
              <a:ext uri="{FF2B5EF4-FFF2-40B4-BE49-F238E27FC236}">
                <a16:creationId xmlns:a16="http://schemas.microsoft.com/office/drawing/2014/main" id="{264B6B82-5CEB-4BB9-A451-A1052BA36B56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178">
            <a:extLst>
              <a:ext uri="{FF2B5EF4-FFF2-40B4-BE49-F238E27FC236}">
                <a16:creationId xmlns:a16="http://schemas.microsoft.com/office/drawing/2014/main" id="{5DF34776-748F-438D-B5CD-3F98C0C535BB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II.-4</a:t>
            </a:r>
          </a:p>
        </p:txBody>
      </p:sp>
      <p:sp>
        <p:nvSpPr>
          <p:cNvPr id="9" name="shape-179">
            <a:extLst>
              <a:ext uri="{FF2B5EF4-FFF2-40B4-BE49-F238E27FC236}">
                <a16:creationId xmlns:a16="http://schemas.microsoft.com/office/drawing/2014/main" id="{6BE0E9FE-029B-45B4-BC6D-C577D7D972FF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주요 기능</a:t>
            </a:r>
          </a:p>
        </p:txBody>
      </p:sp>
      <p:sp>
        <p:nvSpPr>
          <p:cNvPr id="10" name="shape-180">
            <a:extLst>
              <a:ext uri="{FF2B5EF4-FFF2-40B4-BE49-F238E27FC236}">
                <a16:creationId xmlns:a16="http://schemas.microsoft.com/office/drawing/2014/main" id="{3C0562E9-D24E-4542-8B84-45BC53688802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장비·단위·사용 목적을 반영한 검색</a:t>
            </a:r>
          </a:p>
        </p:txBody>
      </p:sp>
      <p:sp>
        <p:nvSpPr>
          <p:cNvPr id="11" name="shape-181">
            <a:extLst>
              <a:ext uri="{FF2B5EF4-FFF2-40B4-BE49-F238E27FC236}">
                <a16:creationId xmlns:a16="http://schemas.microsoft.com/office/drawing/2014/main" id="{EE5D9596-5FA3-417A-BF36-81EAEADCA3E0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장비·단위·값의 역할을 검색어 해석과 후보 검토에 반영하는 전류 입력 예시</a:t>
            </a:r>
          </a:p>
        </p:txBody>
      </p:sp>
      <p:sp>
        <p:nvSpPr>
          <p:cNvPr id="12" name="shape-182">
            <a:extLst>
              <a:ext uri="{FF2B5EF4-FFF2-40B4-BE49-F238E27FC236}">
                <a16:creationId xmlns:a16="http://schemas.microsoft.com/office/drawing/2014/main" id="{AA16F303-7C47-426E-97D6-09ED7E27029D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183">
            <a:extLst>
              <a:ext uri="{FF2B5EF4-FFF2-40B4-BE49-F238E27FC236}">
                <a16:creationId xmlns:a16="http://schemas.microsoft.com/office/drawing/2014/main" id="{3D9EE42E-6D5A-4671-A43B-43C0F45E6909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184">
            <a:extLst>
              <a:ext uri="{FF2B5EF4-FFF2-40B4-BE49-F238E27FC236}">
                <a16:creationId xmlns:a16="http://schemas.microsoft.com/office/drawing/2014/main" id="{CC6ED169-8D36-42C4-9683-894E0E128681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185">
            <a:extLst>
              <a:ext uri="{FF2B5EF4-FFF2-40B4-BE49-F238E27FC236}">
                <a16:creationId xmlns:a16="http://schemas.microsoft.com/office/drawing/2014/main" id="{6CA2226D-3ABA-493E-92A7-069C734CE0C0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D69D020-7A6F-4214-A7EC-A75F68134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6295" y="1914525"/>
            <a:ext cx="10368314" cy="3419475"/>
          </a:xfrm>
          <a:prstGeom prst="rect">
            <a:avLst/>
          </a:prstGeom>
        </p:spPr>
      </p:pic>
      <p:sp>
        <p:nvSpPr>
          <p:cNvPr id="17" name="shape-186">
            <a:extLst>
              <a:ext uri="{FF2B5EF4-FFF2-40B4-BE49-F238E27FC236}">
                <a16:creationId xmlns:a16="http://schemas.microsoft.com/office/drawing/2014/main" id="{A2CBC406-7CEE-42B4-B076-5A0E38F83209}"/>
              </a:ext>
            </a:extLst>
          </p:cNvPr>
          <p:cNvSpPr>
            <a:spLocks noGrp="1"/>
          </p:cNvSpPr>
          <p:nvPr/>
        </p:nvSpPr>
        <p:spPr>
          <a:xfrm>
            <a:off x="514350" y="55245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추가 입력</a:t>
            </a:r>
          </a:p>
        </p:txBody>
      </p:sp>
      <p:sp>
        <p:nvSpPr>
          <p:cNvPr id="18" name="shape-187">
            <a:extLst>
              <a:ext uri="{FF2B5EF4-FFF2-40B4-BE49-F238E27FC236}">
                <a16:creationId xmlns:a16="http://schemas.microsoft.com/office/drawing/2014/main" id="{501E05A8-85C6-4C8D-8FB5-DEC7060A7D19}"/>
              </a:ext>
            </a:extLst>
          </p:cNvPr>
          <p:cNvSpPr>
            <a:spLocks noGrp="1"/>
          </p:cNvSpPr>
          <p:nvPr/>
        </p:nvSpPr>
        <p:spPr>
          <a:xfrm>
            <a:off x="514350" y="5905500"/>
            <a:ext cx="3333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대상·위치, 데이터형, 항목 설명으로</a:t>
            </a:r>
          </a:p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검색 의도를 더 구체적으로 전달</a:t>
            </a:r>
          </a:p>
        </p:txBody>
      </p:sp>
      <p:sp>
        <p:nvSpPr>
          <p:cNvPr id="19" name="shape-188">
            <a:extLst>
              <a:ext uri="{FF2B5EF4-FFF2-40B4-BE49-F238E27FC236}">
                <a16:creationId xmlns:a16="http://schemas.microsoft.com/office/drawing/2014/main" id="{4EEE6E59-051C-4FBE-BDF2-B33274B27A69}"/>
              </a:ext>
            </a:extLst>
          </p:cNvPr>
          <p:cNvSpPr>
            <a:spLocks noGrp="1"/>
          </p:cNvSpPr>
          <p:nvPr/>
        </p:nvSpPr>
        <p:spPr>
          <a:xfrm>
            <a:off x="4324350" y="55245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후보 검토 기준</a:t>
            </a:r>
          </a:p>
        </p:txBody>
      </p:sp>
      <p:sp>
        <p:nvSpPr>
          <p:cNvPr id="20" name="shape-189">
            <a:extLst>
              <a:ext uri="{FF2B5EF4-FFF2-40B4-BE49-F238E27FC236}">
                <a16:creationId xmlns:a16="http://schemas.microsoft.com/office/drawing/2014/main" id="{21463322-538F-432B-ADC0-662FE1F08A03}"/>
              </a:ext>
            </a:extLst>
          </p:cNvPr>
          <p:cNvSpPr>
            <a:spLocks noGrp="1"/>
          </p:cNvSpPr>
          <p:nvPr/>
        </p:nvSpPr>
        <p:spPr>
          <a:xfrm>
            <a:off x="4324350" y="5905500"/>
            <a:ext cx="3524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같은 전류라도 현재값·정격값·한계값의</a:t>
            </a:r>
          </a:p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정의와 사용 목적을 구분</a:t>
            </a:r>
          </a:p>
        </p:txBody>
      </p:sp>
      <p:sp>
        <p:nvSpPr>
          <p:cNvPr id="21" name="shape-190">
            <a:extLst>
              <a:ext uri="{FF2B5EF4-FFF2-40B4-BE49-F238E27FC236}">
                <a16:creationId xmlns:a16="http://schemas.microsoft.com/office/drawing/2014/main" id="{8F5FC091-598D-445E-BC0A-14EAAE1CD08C}"/>
              </a:ext>
            </a:extLst>
          </p:cNvPr>
          <p:cNvSpPr>
            <a:spLocks noGrp="1"/>
          </p:cNvSpPr>
          <p:nvPr/>
        </p:nvSpPr>
        <p:spPr>
          <a:xfrm>
            <a:off x="8134350" y="5524500"/>
            <a:ext cx="3543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사용자 최종 확인</a:t>
            </a:r>
          </a:p>
        </p:txBody>
      </p:sp>
      <p:sp>
        <p:nvSpPr>
          <p:cNvPr id="22" name="shape-191">
            <a:extLst>
              <a:ext uri="{FF2B5EF4-FFF2-40B4-BE49-F238E27FC236}">
                <a16:creationId xmlns:a16="http://schemas.microsoft.com/office/drawing/2014/main" id="{13386C43-DD87-4E3F-8542-9C43667A4C6E}"/>
              </a:ext>
            </a:extLst>
          </p:cNvPr>
          <p:cNvSpPr>
            <a:spLocks noGrp="1"/>
          </p:cNvSpPr>
          <p:nvPr/>
        </p:nvSpPr>
        <p:spPr>
          <a:xfrm>
            <a:off x="8134350" y="5905500"/>
            <a:ext cx="3543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입력 조건으로 후보 검토를 보조</a:t>
            </a:r>
          </a:p>
          <a:p>
            <a:pPr algn="l">
              <a:def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원문 확인 후 적합한 IRDI 선택</a:t>
            </a:r>
          </a:p>
        </p:txBody>
      </p:sp>
    </p:spTree>
    <p:extLst>
      <p:ext uri="{BB962C8B-B14F-4D97-AF65-F5344CB8AC3E}">
        <p14:creationId xmlns:p14="http://schemas.microsoft.com/office/powerpoint/2010/main" val="107231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-192">
            <a:extLst>
              <a:ext uri="{FF2B5EF4-FFF2-40B4-BE49-F238E27FC236}">
                <a16:creationId xmlns:a16="http://schemas.microsoft.com/office/drawing/2014/main" id="{0FD5769E-C9AA-4729-A081-127BD28C12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193">
            <a:extLst>
              <a:ext uri="{FF2B5EF4-FFF2-40B4-BE49-F238E27FC236}">
                <a16:creationId xmlns:a16="http://schemas.microsoft.com/office/drawing/2014/main" id="{F8B457A6-2BE1-4368-8981-591E377111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194">
            <a:extLst>
              <a:ext uri="{FF2B5EF4-FFF2-40B4-BE49-F238E27FC236}">
                <a16:creationId xmlns:a16="http://schemas.microsoft.com/office/drawing/2014/main" id="{17A7E39B-1FF5-4C51-B29F-F8DD65ACDA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195">
            <a:extLst>
              <a:ext uri="{FF2B5EF4-FFF2-40B4-BE49-F238E27FC236}">
                <a16:creationId xmlns:a16="http://schemas.microsoft.com/office/drawing/2014/main" id="{34797DC3-3630-4990-BCF8-28A74E6AFC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196">
            <a:extLst>
              <a:ext uri="{FF2B5EF4-FFF2-40B4-BE49-F238E27FC236}">
                <a16:creationId xmlns:a16="http://schemas.microsoft.com/office/drawing/2014/main" id="{DDE01EE5-D755-407D-BC68-C6B6B2711C95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197">
            <a:extLst>
              <a:ext uri="{FF2B5EF4-FFF2-40B4-BE49-F238E27FC236}">
                <a16:creationId xmlns:a16="http://schemas.microsoft.com/office/drawing/2014/main" id="{90DACA20-7A0D-4D02-A09C-52CEFADA0B64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198">
            <a:extLst>
              <a:ext uri="{FF2B5EF4-FFF2-40B4-BE49-F238E27FC236}">
                <a16:creationId xmlns:a16="http://schemas.microsoft.com/office/drawing/2014/main" id="{D60B3E2F-2A0A-4227-BEFD-05460C8A4D87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199">
            <a:extLst>
              <a:ext uri="{FF2B5EF4-FFF2-40B4-BE49-F238E27FC236}">
                <a16:creationId xmlns:a16="http://schemas.microsoft.com/office/drawing/2014/main" id="{522CED44-666C-43D0-87D6-47429E8C56A4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II.-5</a:t>
            </a:r>
          </a:p>
        </p:txBody>
      </p:sp>
      <p:sp>
        <p:nvSpPr>
          <p:cNvPr id="9" name="shape-200">
            <a:extLst>
              <a:ext uri="{FF2B5EF4-FFF2-40B4-BE49-F238E27FC236}">
                <a16:creationId xmlns:a16="http://schemas.microsoft.com/office/drawing/2014/main" id="{D4B26658-F599-4A20-9D7B-F6917843FD34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주요 기능</a:t>
            </a:r>
          </a:p>
        </p:txBody>
      </p:sp>
      <p:sp>
        <p:nvSpPr>
          <p:cNvPr id="10" name="shape-201">
            <a:extLst>
              <a:ext uri="{FF2B5EF4-FFF2-40B4-BE49-F238E27FC236}">
                <a16:creationId xmlns:a16="http://schemas.microsoft.com/office/drawing/2014/main" id="{DBBA4760-0DCE-4323-833A-270B105F92C7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여러 데이터 항목의 IRDI 일괄 검색</a:t>
            </a:r>
          </a:p>
        </p:txBody>
      </p:sp>
      <p:sp>
        <p:nvSpPr>
          <p:cNvPr id="11" name="shape-202">
            <a:extLst>
              <a:ext uri="{FF2B5EF4-FFF2-40B4-BE49-F238E27FC236}">
                <a16:creationId xmlns:a16="http://schemas.microsoft.com/office/drawing/2014/main" id="{4DB96AE1-BAE5-4C99-AB72-9AB28C6527F9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전류·높이·길이 등 항목 목록을 한 번에 입력하고 항목별 표준 속성 후보 확인</a:t>
            </a:r>
          </a:p>
        </p:txBody>
      </p:sp>
      <p:sp>
        <p:nvSpPr>
          <p:cNvPr id="12" name="shape-203">
            <a:extLst>
              <a:ext uri="{FF2B5EF4-FFF2-40B4-BE49-F238E27FC236}">
                <a16:creationId xmlns:a16="http://schemas.microsoft.com/office/drawing/2014/main" id="{A8E0F054-9EA4-4EF8-9441-7A5C5D533067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204">
            <a:extLst>
              <a:ext uri="{FF2B5EF4-FFF2-40B4-BE49-F238E27FC236}">
                <a16:creationId xmlns:a16="http://schemas.microsoft.com/office/drawing/2014/main" id="{E6553247-E364-4724-A743-49E146574BEF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205">
            <a:extLst>
              <a:ext uri="{FF2B5EF4-FFF2-40B4-BE49-F238E27FC236}">
                <a16:creationId xmlns:a16="http://schemas.microsoft.com/office/drawing/2014/main" id="{2863AADC-2932-4733-AE62-770E9429431F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206">
            <a:extLst>
              <a:ext uri="{FF2B5EF4-FFF2-40B4-BE49-F238E27FC236}">
                <a16:creationId xmlns:a16="http://schemas.microsoft.com/office/drawing/2014/main" id="{A09C1847-D3A3-4678-BE6F-F8C56D93D467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09</a:t>
            </a:r>
          </a:p>
        </p:txBody>
      </p:sp>
      <p:sp>
        <p:nvSpPr>
          <p:cNvPr id="17" name="shape-207">
            <a:extLst>
              <a:ext uri="{FF2B5EF4-FFF2-40B4-BE49-F238E27FC236}">
                <a16:creationId xmlns:a16="http://schemas.microsoft.com/office/drawing/2014/main" id="{50CB013B-F000-46CE-8776-6381E89D20FB}"/>
              </a:ext>
            </a:extLst>
          </p:cNvPr>
          <p:cNvSpPr>
            <a:spLocks noGrp="1"/>
          </p:cNvSpPr>
          <p:nvPr/>
        </p:nvSpPr>
        <p:spPr>
          <a:xfrm>
            <a:off x="514350" y="5810250"/>
            <a:ext cx="11163300" cy="447675"/>
          </a:xfrm>
          <a:prstGeom prst="rect">
            <a:avLst/>
          </a:prstGeom>
          <a:solidFill>
            <a:srgbClr val="EFF7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-208">
            <a:extLst>
              <a:ext uri="{FF2B5EF4-FFF2-40B4-BE49-F238E27FC236}">
                <a16:creationId xmlns:a16="http://schemas.microsoft.com/office/drawing/2014/main" id="{CF6E2700-9F8A-4944-8037-B4CCC256DC5F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검색할 항목 목록 입력 → 도구로 일괄 후보 검색 → 항목별 순위·정의·IRDI를 엑셀로 확인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DFDFBD68-C58A-E0FE-54A6-4DABCDB09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87" y="2010307"/>
            <a:ext cx="10515600" cy="338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158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-209">
            <a:extLst>
              <a:ext uri="{FF2B5EF4-FFF2-40B4-BE49-F238E27FC236}">
                <a16:creationId xmlns:a16="http://schemas.microsoft.com/office/drawing/2014/main" id="{5FF5E806-9CCA-4E7A-9676-45F06739B5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210">
            <a:extLst>
              <a:ext uri="{FF2B5EF4-FFF2-40B4-BE49-F238E27FC236}">
                <a16:creationId xmlns:a16="http://schemas.microsoft.com/office/drawing/2014/main" id="{134E0DC6-B1F8-4738-90E7-087EAF330E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211">
            <a:extLst>
              <a:ext uri="{FF2B5EF4-FFF2-40B4-BE49-F238E27FC236}">
                <a16:creationId xmlns:a16="http://schemas.microsoft.com/office/drawing/2014/main" id="{E8E0EBC8-98A3-485E-BE72-C19C05DD7E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212">
            <a:extLst>
              <a:ext uri="{FF2B5EF4-FFF2-40B4-BE49-F238E27FC236}">
                <a16:creationId xmlns:a16="http://schemas.microsoft.com/office/drawing/2014/main" id="{E21A1053-2E5E-45F4-BD2D-0791386E01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213">
            <a:extLst>
              <a:ext uri="{FF2B5EF4-FFF2-40B4-BE49-F238E27FC236}">
                <a16:creationId xmlns:a16="http://schemas.microsoft.com/office/drawing/2014/main" id="{7B151414-34E1-4DFE-8353-1CCF3D0F4EAF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214">
            <a:extLst>
              <a:ext uri="{FF2B5EF4-FFF2-40B4-BE49-F238E27FC236}">
                <a16:creationId xmlns:a16="http://schemas.microsoft.com/office/drawing/2014/main" id="{EA025C89-90FD-45D9-A863-20A236D826B2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215">
            <a:extLst>
              <a:ext uri="{FF2B5EF4-FFF2-40B4-BE49-F238E27FC236}">
                <a16:creationId xmlns:a16="http://schemas.microsoft.com/office/drawing/2014/main" id="{100D92C7-33E9-4205-B9FB-8D6A5CEBC1EA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216">
            <a:extLst>
              <a:ext uri="{FF2B5EF4-FFF2-40B4-BE49-F238E27FC236}">
                <a16:creationId xmlns:a16="http://schemas.microsoft.com/office/drawing/2014/main" id="{98590458-1A28-48C3-BA9B-FA93956C0922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III.-1</a:t>
            </a:r>
          </a:p>
        </p:txBody>
      </p:sp>
      <p:sp>
        <p:nvSpPr>
          <p:cNvPr id="9" name="shape-217">
            <a:extLst>
              <a:ext uri="{FF2B5EF4-FFF2-40B4-BE49-F238E27FC236}">
                <a16:creationId xmlns:a16="http://schemas.microsoft.com/office/drawing/2014/main" id="{F41091F0-30EC-4D3C-AD5F-52399BCA9CA2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실제 시연</a:t>
            </a:r>
          </a:p>
        </p:txBody>
      </p:sp>
      <p:sp>
        <p:nvSpPr>
          <p:cNvPr id="10" name="shape-218">
            <a:extLst>
              <a:ext uri="{FF2B5EF4-FFF2-40B4-BE49-F238E27FC236}">
                <a16:creationId xmlns:a16="http://schemas.microsoft.com/office/drawing/2014/main" id="{8F7BFFE8-5581-4D42-B297-7B1C916B213F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제조사명 검색과 확정 이력</a:t>
            </a:r>
          </a:p>
        </p:txBody>
      </p:sp>
      <p:sp>
        <p:nvSpPr>
          <p:cNvPr id="11" name="shape-219">
            <a:extLst>
              <a:ext uri="{FF2B5EF4-FFF2-40B4-BE49-F238E27FC236}">
                <a16:creationId xmlns:a16="http://schemas.microsoft.com/office/drawing/2014/main" id="{EA1CA70C-71F8-4C71-932B-D87086A1DDFC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제조사명 검색 → IRDI 확인 → 사용자 확정 → 이력 조회</a:t>
            </a:r>
          </a:p>
        </p:txBody>
      </p:sp>
      <p:sp>
        <p:nvSpPr>
          <p:cNvPr id="12" name="shape-220">
            <a:extLst>
              <a:ext uri="{FF2B5EF4-FFF2-40B4-BE49-F238E27FC236}">
                <a16:creationId xmlns:a16="http://schemas.microsoft.com/office/drawing/2014/main" id="{31FD3323-7E5F-4220-9E99-D7CD09C67747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221">
            <a:extLst>
              <a:ext uri="{FF2B5EF4-FFF2-40B4-BE49-F238E27FC236}">
                <a16:creationId xmlns:a16="http://schemas.microsoft.com/office/drawing/2014/main" id="{8A089C66-4884-475C-8382-2AFDA63AC886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222">
            <a:extLst>
              <a:ext uri="{FF2B5EF4-FFF2-40B4-BE49-F238E27FC236}">
                <a16:creationId xmlns:a16="http://schemas.microsoft.com/office/drawing/2014/main" id="{37CAA623-D646-4897-8993-B396019AD9E5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223">
            <a:extLst>
              <a:ext uri="{FF2B5EF4-FFF2-40B4-BE49-F238E27FC236}">
                <a16:creationId xmlns:a16="http://schemas.microsoft.com/office/drawing/2014/main" id="{28EE530A-45FD-4E10-A9A8-DB82467BD2F1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pic>
        <p:nvPicPr>
          <p:cNvPr id="16" name="시맨틱ID 검색 효율성 개선 도구 실제 작동 영상" descr="슬라이드 쇼에서 클릭하여 재생. 제조사명 검색, IRDI 확인, 사용자 확정, 이력 조회. 자막 포함.">
            <a:hlinkClick r:id="" action="ppaction://media"/>
            <a:extLst>
              <a:ext uri="{FF2B5EF4-FFF2-40B4-BE49-F238E27FC236}">
                <a16:creationId xmlns:a16="http://schemas.microsoft.com/office/drawing/2014/main" id="{97726807-7CBC-40CA-A206-8CFE259C39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/>
        </p:blipFill>
        <p:spPr>
          <a:xfrm>
            <a:off x="2867384" y="1857375"/>
            <a:ext cx="6457233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41694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-224">
            <a:extLst>
              <a:ext uri="{FF2B5EF4-FFF2-40B4-BE49-F238E27FC236}">
                <a16:creationId xmlns:a16="http://schemas.microsoft.com/office/drawing/2014/main" id="{F9120408-1AC3-4033-8CB9-841749C5B1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225">
            <a:extLst>
              <a:ext uri="{FF2B5EF4-FFF2-40B4-BE49-F238E27FC236}">
                <a16:creationId xmlns:a16="http://schemas.microsoft.com/office/drawing/2014/main" id="{02D19501-01B5-4C47-94E5-BFE1806177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226">
            <a:extLst>
              <a:ext uri="{FF2B5EF4-FFF2-40B4-BE49-F238E27FC236}">
                <a16:creationId xmlns:a16="http://schemas.microsoft.com/office/drawing/2014/main" id="{56CA5BC1-A2EF-492D-ABCD-312D984285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227">
            <a:extLst>
              <a:ext uri="{FF2B5EF4-FFF2-40B4-BE49-F238E27FC236}">
                <a16:creationId xmlns:a16="http://schemas.microsoft.com/office/drawing/2014/main" id="{F2011AE2-260D-4349-BA1C-0A779E9DB8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228">
            <a:extLst>
              <a:ext uri="{FF2B5EF4-FFF2-40B4-BE49-F238E27FC236}">
                <a16:creationId xmlns:a16="http://schemas.microsoft.com/office/drawing/2014/main" id="{08BC465A-6F1E-4452-B806-67F5B781C418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229">
            <a:extLst>
              <a:ext uri="{FF2B5EF4-FFF2-40B4-BE49-F238E27FC236}">
                <a16:creationId xmlns:a16="http://schemas.microsoft.com/office/drawing/2014/main" id="{8421E7AF-EA43-4AAF-A1EF-BE6DEE573399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230">
            <a:extLst>
              <a:ext uri="{FF2B5EF4-FFF2-40B4-BE49-F238E27FC236}">
                <a16:creationId xmlns:a16="http://schemas.microsoft.com/office/drawing/2014/main" id="{F32A0013-A791-4279-85D2-7842C045415A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231">
            <a:extLst>
              <a:ext uri="{FF2B5EF4-FFF2-40B4-BE49-F238E27FC236}">
                <a16:creationId xmlns:a16="http://schemas.microsoft.com/office/drawing/2014/main" id="{9B21B166-5694-490D-B30A-0B18456CFF42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III.-2</a:t>
            </a:r>
          </a:p>
        </p:txBody>
      </p:sp>
      <p:sp>
        <p:nvSpPr>
          <p:cNvPr id="9" name="shape-232">
            <a:extLst>
              <a:ext uri="{FF2B5EF4-FFF2-40B4-BE49-F238E27FC236}">
                <a16:creationId xmlns:a16="http://schemas.microsoft.com/office/drawing/2014/main" id="{E7938133-8F79-4ABD-ADF0-9DA7206540F5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업무 활용</a:t>
            </a:r>
          </a:p>
        </p:txBody>
      </p:sp>
      <p:sp>
        <p:nvSpPr>
          <p:cNvPr id="10" name="shape-233">
            <a:extLst>
              <a:ext uri="{FF2B5EF4-FFF2-40B4-BE49-F238E27FC236}">
                <a16:creationId xmlns:a16="http://schemas.microsoft.com/office/drawing/2014/main" id="{F8DC07D8-7E15-4204-A834-4594873D4DB7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참조모델 개발 업무에서의 활용</a:t>
            </a:r>
          </a:p>
        </p:txBody>
      </p:sp>
      <p:sp>
        <p:nvSpPr>
          <p:cNvPr id="11" name="shape-234">
            <a:extLst>
              <a:ext uri="{FF2B5EF4-FFF2-40B4-BE49-F238E27FC236}">
                <a16:creationId xmlns:a16="http://schemas.microsoft.com/office/drawing/2014/main" id="{A9A80EE8-62C4-45D1-9395-C53D0110E829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검색·검토 결과를 참조모델에 연결하기 위한 향후 Package Explorer 연계 계획</a:t>
            </a:r>
          </a:p>
        </p:txBody>
      </p:sp>
      <p:sp>
        <p:nvSpPr>
          <p:cNvPr id="12" name="shape-235">
            <a:extLst>
              <a:ext uri="{FF2B5EF4-FFF2-40B4-BE49-F238E27FC236}">
                <a16:creationId xmlns:a16="http://schemas.microsoft.com/office/drawing/2014/main" id="{7330ADEF-5AC9-4871-999E-4AB27CCBCD19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236">
            <a:extLst>
              <a:ext uri="{FF2B5EF4-FFF2-40B4-BE49-F238E27FC236}">
                <a16:creationId xmlns:a16="http://schemas.microsoft.com/office/drawing/2014/main" id="{CA431720-AF47-414D-8BAE-2BB33A8E2D13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237">
            <a:extLst>
              <a:ext uri="{FF2B5EF4-FFF2-40B4-BE49-F238E27FC236}">
                <a16:creationId xmlns:a16="http://schemas.microsoft.com/office/drawing/2014/main" id="{13D6E0A4-7B69-4E1A-AFC0-46E302A260EA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238">
            <a:extLst>
              <a:ext uri="{FF2B5EF4-FFF2-40B4-BE49-F238E27FC236}">
                <a16:creationId xmlns:a16="http://schemas.microsoft.com/office/drawing/2014/main" id="{B6C02FA7-8037-4A5D-ABDE-34B74CC8833F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11</a:t>
            </a:r>
          </a:p>
        </p:txBody>
      </p:sp>
      <p:sp>
        <p:nvSpPr>
          <p:cNvPr id="16" name="shape-239">
            <a:extLst>
              <a:ext uri="{FF2B5EF4-FFF2-40B4-BE49-F238E27FC236}">
                <a16:creationId xmlns:a16="http://schemas.microsoft.com/office/drawing/2014/main" id="{DF82C336-D606-4A8C-86DD-9D974D82294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10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향후 연계 계획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687A290-5BCE-4D04-9AD3-843F4CFCD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11396" y="2890340"/>
            <a:ext cx="5381625" cy="2241882"/>
          </a:xfrm>
          <a:prstGeom prst="rect">
            <a:avLst/>
          </a:prstGeom>
        </p:spPr>
      </p:pic>
      <p:sp>
        <p:nvSpPr>
          <p:cNvPr id="20" name="shape-242">
            <a:extLst>
              <a:ext uri="{FF2B5EF4-FFF2-40B4-BE49-F238E27FC236}">
                <a16:creationId xmlns:a16="http://schemas.microsoft.com/office/drawing/2014/main" id="{059843EC-02FC-4719-83D7-FEFBFA34E170}"/>
              </a:ext>
            </a:extLst>
          </p:cNvPr>
          <p:cNvSpPr>
            <a:spLocks noGrp="1"/>
          </p:cNvSpPr>
          <p:nvPr/>
        </p:nvSpPr>
        <p:spPr>
          <a:xfrm>
            <a:off x="6096000" y="2019300"/>
            <a:ext cx="9525" cy="39338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-243">
            <a:extLst>
              <a:ext uri="{FF2B5EF4-FFF2-40B4-BE49-F238E27FC236}">
                <a16:creationId xmlns:a16="http://schemas.microsoft.com/office/drawing/2014/main" id="{DC92B555-7536-4A37-B898-69E20D68EB80}"/>
              </a:ext>
            </a:extLst>
          </p:cNvPr>
          <p:cNvSpPr>
            <a:spLocks noGrp="1"/>
          </p:cNvSpPr>
          <p:nvPr/>
        </p:nvSpPr>
        <p:spPr>
          <a:xfrm>
            <a:off x="6457950" y="2038350"/>
            <a:ext cx="52197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01  후보 검토·IRDI 선정</a:t>
            </a:r>
          </a:p>
        </p:txBody>
      </p:sp>
      <p:sp>
        <p:nvSpPr>
          <p:cNvPr id="22" name="shape-244">
            <a:extLst>
              <a:ext uri="{FF2B5EF4-FFF2-40B4-BE49-F238E27FC236}">
                <a16:creationId xmlns:a16="http://schemas.microsoft.com/office/drawing/2014/main" id="{3C62B5D9-1532-445A-9224-A8C851E2E8EF}"/>
              </a:ext>
            </a:extLst>
          </p:cNvPr>
          <p:cNvSpPr>
            <a:spLocks noGrp="1"/>
          </p:cNvSpPr>
          <p:nvPr/>
        </p:nvSpPr>
        <p:spPr>
          <a:xfrm>
            <a:off x="6515100" y="2431884"/>
            <a:ext cx="52197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lnSpc>
                <a:spcPct val="150000"/>
              </a:lnSpc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도구에서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정의·단위·사용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목적을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비교</a:t>
            </a:r>
            <a:endParaRPr sz="1650" b="0" dirty="0">
              <a:solidFill>
                <a:srgbClr val="24334B"/>
              </a:solidFill>
              <a:latin typeface="Pretendard Variable"/>
              <a:ea typeface="Pretendard Variable"/>
              <a:cs typeface="Pretendard Variable"/>
            </a:endParaRPr>
          </a:p>
          <a:p>
            <a:pPr algn="l">
              <a:lnSpc>
                <a:spcPct val="150000"/>
              </a:lnSpc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참조모델에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사용할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IRDI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선정</a:t>
            </a:r>
            <a:endParaRPr sz="1650" b="0" dirty="0">
              <a:solidFill>
                <a:srgbClr val="24334B"/>
              </a:solidFill>
              <a:latin typeface="Pretendard Variable"/>
              <a:ea typeface="Pretendard Variable"/>
              <a:cs typeface="Pretendard Variable"/>
            </a:endParaRPr>
          </a:p>
        </p:txBody>
      </p:sp>
      <p:sp>
        <p:nvSpPr>
          <p:cNvPr id="23" name="shape-245">
            <a:extLst>
              <a:ext uri="{FF2B5EF4-FFF2-40B4-BE49-F238E27FC236}">
                <a16:creationId xmlns:a16="http://schemas.microsoft.com/office/drawing/2014/main" id="{8DF34EE5-A32D-4C76-9ADB-2313F3BB6CB3}"/>
              </a:ext>
            </a:extLst>
          </p:cNvPr>
          <p:cNvSpPr>
            <a:spLocks noGrp="1"/>
          </p:cNvSpPr>
          <p:nvPr/>
        </p:nvSpPr>
        <p:spPr>
          <a:xfrm>
            <a:off x="6457950" y="3333750"/>
            <a:ext cx="52197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02  교체용 엑셀 정리</a:t>
            </a:r>
          </a:p>
        </p:txBody>
      </p:sp>
      <p:sp>
        <p:nvSpPr>
          <p:cNvPr id="24" name="shape-246">
            <a:extLst>
              <a:ext uri="{FF2B5EF4-FFF2-40B4-BE49-F238E27FC236}">
                <a16:creationId xmlns:a16="http://schemas.microsoft.com/office/drawing/2014/main" id="{C67D3B54-A9F8-43E5-A232-9FE123B4F35F}"/>
              </a:ext>
            </a:extLst>
          </p:cNvPr>
          <p:cNvSpPr>
            <a:spLocks noGrp="1"/>
          </p:cNvSpPr>
          <p:nvPr/>
        </p:nvSpPr>
        <p:spPr>
          <a:xfrm>
            <a:off x="6515100" y="3724275"/>
            <a:ext cx="52197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lnSpc>
                <a:spcPct val="150000"/>
              </a:lnSpc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기존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semanticId와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선정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IRDI의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대응표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작성</a:t>
            </a:r>
            <a:endParaRPr sz="1650" b="0" dirty="0">
              <a:solidFill>
                <a:srgbClr val="24334B"/>
              </a:solidFill>
              <a:latin typeface="Pretendard Variable"/>
              <a:ea typeface="Pretendard Variable"/>
              <a:cs typeface="Pretendard Variable"/>
            </a:endParaRPr>
          </a:p>
          <a:p>
            <a:pPr algn="l">
              <a:lnSpc>
                <a:spcPct val="150000"/>
              </a:lnSpc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검토용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결과를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교체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형식으로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정리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예정</a:t>
            </a:r>
            <a:endParaRPr sz="1650" b="0" dirty="0">
              <a:solidFill>
                <a:srgbClr val="24334B"/>
              </a:solidFill>
              <a:latin typeface="Pretendard Variable"/>
              <a:ea typeface="Pretendard Variable"/>
              <a:cs typeface="Pretendard Variable"/>
            </a:endParaRPr>
          </a:p>
        </p:txBody>
      </p:sp>
      <p:sp>
        <p:nvSpPr>
          <p:cNvPr id="25" name="shape-247">
            <a:extLst>
              <a:ext uri="{FF2B5EF4-FFF2-40B4-BE49-F238E27FC236}">
                <a16:creationId xmlns:a16="http://schemas.microsoft.com/office/drawing/2014/main" id="{69D391CD-50C0-4D56-AF28-F237F9D12F34}"/>
              </a:ext>
            </a:extLst>
          </p:cNvPr>
          <p:cNvSpPr>
            <a:spLocks noGrp="1"/>
          </p:cNvSpPr>
          <p:nvPr/>
        </p:nvSpPr>
        <p:spPr>
          <a:xfrm>
            <a:off x="6457950" y="4629150"/>
            <a:ext cx="52197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950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950" b="1" dirty="0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03 </a:t>
            </a:r>
            <a:r>
              <a:rPr lang="en-US" dirty="0" err="1"/>
              <a:t>Aasx</a:t>
            </a:r>
            <a:r>
              <a:rPr sz="1950" b="1" dirty="0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 Package Explorer </a:t>
            </a:r>
            <a:r>
              <a:rPr sz="1950" b="1" dirty="0" err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일괄</a:t>
            </a:r>
            <a:r>
              <a:rPr sz="1950" b="1" dirty="0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sz="1950" b="1" dirty="0" err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반영</a:t>
            </a:r>
            <a:endParaRPr sz="1950" b="1" dirty="0">
              <a:solidFill>
                <a:srgbClr val="1678D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6" name="shape-248">
            <a:extLst>
              <a:ext uri="{FF2B5EF4-FFF2-40B4-BE49-F238E27FC236}">
                <a16:creationId xmlns:a16="http://schemas.microsoft.com/office/drawing/2014/main" id="{F0326554-B09F-4823-82FB-56F2890663F8}"/>
              </a:ext>
            </a:extLst>
          </p:cNvPr>
          <p:cNvSpPr>
            <a:spLocks noGrp="1"/>
          </p:cNvSpPr>
          <p:nvPr/>
        </p:nvSpPr>
        <p:spPr>
          <a:xfrm>
            <a:off x="6515100" y="5010150"/>
            <a:ext cx="52197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>
              <a:lnSpc>
                <a:spcPct val="150000"/>
              </a:lnSpc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lang="en-US" altLang="ko-KR" sz="1800" dirty="0" err="1"/>
              <a:t>semanticId</a:t>
            </a:r>
            <a:r>
              <a:rPr lang="en-US" altLang="ko-KR" sz="1800" dirty="0"/>
              <a:t> </a:t>
            </a:r>
            <a:r>
              <a:rPr lang="ko-KR" altLang="en-US" sz="1800" dirty="0"/>
              <a:t>일괄 변경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기능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활용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계획</a:t>
            </a:r>
            <a:endParaRPr sz="1650" b="0" dirty="0">
              <a:solidFill>
                <a:srgbClr val="24334B"/>
              </a:solidFill>
              <a:latin typeface="Pretendard Variable"/>
              <a:ea typeface="Pretendard Variable"/>
              <a:cs typeface="Pretendard Variable"/>
            </a:endParaRPr>
          </a:p>
          <a:p>
            <a:pPr algn="l">
              <a:lnSpc>
                <a:spcPct val="150000"/>
              </a:lnSpc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교체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결과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확인·모델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저장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절차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검증</a:t>
            </a:r>
            <a:r>
              <a:rPr sz="1650" b="0" dirty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 </a:t>
            </a:r>
            <a:r>
              <a:rPr sz="1650" b="0" dirty="0" err="1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예정</a:t>
            </a:r>
            <a:endParaRPr sz="1650" b="0" dirty="0">
              <a:solidFill>
                <a:srgbClr val="24334B"/>
              </a:solidFill>
              <a:latin typeface="Pretendard Variable"/>
              <a:ea typeface="Pretendard Variable"/>
              <a:cs typeface="Pretendard Variable"/>
            </a:endParaRPr>
          </a:p>
        </p:txBody>
      </p:sp>
      <p:sp>
        <p:nvSpPr>
          <p:cNvPr id="27" name="shape-249">
            <a:extLst>
              <a:ext uri="{FF2B5EF4-FFF2-40B4-BE49-F238E27FC236}">
                <a16:creationId xmlns:a16="http://schemas.microsoft.com/office/drawing/2014/main" id="{ECDD97B8-5D96-4CBD-B537-6BBB1031ED8C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111633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2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적용 조건: 기존 semanticId와 선정 IRDI의 2열 엑셀 · 기존 ID가 일치하는 참조 대상</a:t>
            </a:r>
          </a:p>
        </p:txBody>
      </p:sp>
    </p:spTree>
    <p:extLst>
      <p:ext uri="{BB962C8B-B14F-4D97-AF65-F5344CB8AC3E}">
        <p14:creationId xmlns:p14="http://schemas.microsoft.com/office/powerpoint/2010/main" val="175836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-250">
            <a:extLst>
              <a:ext uri="{FF2B5EF4-FFF2-40B4-BE49-F238E27FC236}">
                <a16:creationId xmlns:a16="http://schemas.microsoft.com/office/drawing/2014/main" id="{D2DF4E35-F818-40AD-9706-EC4DFC4CFD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251">
            <a:extLst>
              <a:ext uri="{FF2B5EF4-FFF2-40B4-BE49-F238E27FC236}">
                <a16:creationId xmlns:a16="http://schemas.microsoft.com/office/drawing/2014/main" id="{2CE58736-F93D-4E7D-B837-A53A548EFA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252">
            <a:extLst>
              <a:ext uri="{FF2B5EF4-FFF2-40B4-BE49-F238E27FC236}">
                <a16:creationId xmlns:a16="http://schemas.microsoft.com/office/drawing/2014/main" id="{2F01B669-3F1F-47FD-8711-85E7CB5AE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253">
            <a:extLst>
              <a:ext uri="{FF2B5EF4-FFF2-40B4-BE49-F238E27FC236}">
                <a16:creationId xmlns:a16="http://schemas.microsoft.com/office/drawing/2014/main" id="{2126D80E-E71A-43E8-B236-ACF23CEEC8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254">
            <a:extLst>
              <a:ext uri="{FF2B5EF4-FFF2-40B4-BE49-F238E27FC236}">
                <a16:creationId xmlns:a16="http://schemas.microsoft.com/office/drawing/2014/main" id="{5BA59C53-24EB-48A2-A6E7-146828241B69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255">
            <a:extLst>
              <a:ext uri="{FF2B5EF4-FFF2-40B4-BE49-F238E27FC236}">
                <a16:creationId xmlns:a16="http://schemas.microsoft.com/office/drawing/2014/main" id="{D5771BD3-EC95-4E94-8CAF-181D913A9C69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256">
            <a:extLst>
              <a:ext uri="{FF2B5EF4-FFF2-40B4-BE49-F238E27FC236}">
                <a16:creationId xmlns:a16="http://schemas.microsoft.com/office/drawing/2014/main" id="{BE4855EF-BA1D-4189-9C15-77E6B3190C69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257">
            <a:extLst>
              <a:ext uri="{FF2B5EF4-FFF2-40B4-BE49-F238E27FC236}">
                <a16:creationId xmlns:a16="http://schemas.microsoft.com/office/drawing/2014/main" id="{C36395E9-28D5-4798-9ACA-F5A1717F5394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A.-1</a:t>
            </a:r>
          </a:p>
        </p:txBody>
      </p:sp>
      <p:sp>
        <p:nvSpPr>
          <p:cNvPr id="9" name="shape-258">
            <a:extLst>
              <a:ext uri="{FF2B5EF4-FFF2-40B4-BE49-F238E27FC236}">
                <a16:creationId xmlns:a16="http://schemas.microsoft.com/office/drawing/2014/main" id="{9153B6BD-FEA6-4D5D-8056-1BFA60A2EC54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259">
            <a:extLst>
              <a:ext uri="{FF2B5EF4-FFF2-40B4-BE49-F238E27FC236}">
                <a16:creationId xmlns:a16="http://schemas.microsoft.com/office/drawing/2014/main" id="{8166AA14-0A78-4F0C-A213-2E4C800DC5F2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시스템 구성</a:t>
            </a:r>
          </a:p>
        </p:txBody>
      </p:sp>
      <p:sp>
        <p:nvSpPr>
          <p:cNvPr id="11" name="shape-260">
            <a:extLst>
              <a:ext uri="{FF2B5EF4-FFF2-40B4-BE49-F238E27FC236}">
                <a16:creationId xmlns:a16="http://schemas.microsoft.com/office/drawing/2014/main" id="{AFA98AB3-0BB4-4099-A7E7-0228CB80D7E8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Windows PC 내부에서 실행되는 사전 검색·AI 보조·이력 저장 구조</a:t>
            </a:r>
          </a:p>
        </p:txBody>
      </p:sp>
      <p:sp>
        <p:nvSpPr>
          <p:cNvPr id="12" name="shape-261">
            <a:extLst>
              <a:ext uri="{FF2B5EF4-FFF2-40B4-BE49-F238E27FC236}">
                <a16:creationId xmlns:a16="http://schemas.microsoft.com/office/drawing/2014/main" id="{008C885A-D554-4E82-8878-8F01D7B6D5E9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262">
            <a:extLst>
              <a:ext uri="{FF2B5EF4-FFF2-40B4-BE49-F238E27FC236}">
                <a16:creationId xmlns:a16="http://schemas.microsoft.com/office/drawing/2014/main" id="{0F740568-77C4-48A7-9408-DF3DBCE54E15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263">
            <a:extLst>
              <a:ext uri="{FF2B5EF4-FFF2-40B4-BE49-F238E27FC236}">
                <a16:creationId xmlns:a16="http://schemas.microsoft.com/office/drawing/2014/main" id="{5F1F3148-F33D-4AF5-A2E0-E13D8C8B1917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264">
            <a:extLst>
              <a:ext uri="{FF2B5EF4-FFF2-40B4-BE49-F238E27FC236}">
                <a16:creationId xmlns:a16="http://schemas.microsoft.com/office/drawing/2014/main" id="{30775A71-D73D-483B-9697-95C5746C1F30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22C6D62-5AED-4796-976A-9155F0380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5338" y="1905000"/>
            <a:ext cx="10601325" cy="3533775"/>
          </a:xfrm>
          <a:prstGeom prst="rect">
            <a:avLst/>
          </a:prstGeom>
        </p:spPr>
      </p:pic>
      <p:sp>
        <p:nvSpPr>
          <p:cNvPr id="17" name="shape-265">
            <a:extLst>
              <a:ext uri="{FF2B5EF4-FFF2-40B4-BE49-F238E27FC236}">
                <a16:creationId xmlns:a16="http://schemas.microsoft.com/office/drawing/2014/main" id="{7277E24F-D884-423C-81AB-6388CDF1EFF6}"/>
              </a:ext>
            </a:extLst>
          </p:cNvPr>
          <p:cNvSpPr>
            <a:spLocks noGrp="1"/>
          </p:cNvSpPr>
          <p:nvPr/>
        </p:nvSpPr>
        <p:spPr>
          <a:xfrm>
            <a:off x="514350" y="5524500"/>
            <a:ext cx="11163300" cy="447675"/>
          </a:xfrm>
          <a:prstGeom prst="rect">
            <a:avLst/>
          </a:prstGeom>
          <a:solidFill>
            <a:srgbClr val="EFF7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-266">
            <a:extLst>
              <a:ext uri="{FF2B5EF4-FFF2-40B4-BE49-F238E27FC236}">
                <a16:creationId xmlns:a16="http://schemas.microsoft.com/office/drawing/2014/main" id="{6ED24EC2-4BF1-4D89-A42A-2970E58B9AF1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Python/Tk 사용자 화면  ·  메모리 역색인 검색  ·  SQLite 영속 저장  ·  llama.cpp 로컬 추론</a:t>
            </a:r>
          </a:p>
        </p:txBody>
      </p:sp>
      <p:sp>
        <p:nvSpPr>
          <p:cNvPr id="19" name="shape-267">
            <a:extLst>
              <a:ext uri="{FF2B5EF4-FFF2-40B4-BE49-F238E27FC236}">
                <a16:creationId xmlns:a16="http://schemas.microsoft.com/office/drawing/2014/main" id="{D05C7A3C-86B0-4652-AFFD-4A31F504E425}"/>
              </a:ext>
            </a:extLst>
          </p:cNvPr>
          <p:cNvSpPr>
            <a:spLocks noGrp="1"/>
          </p:cNvSpPr>
          <p:nvPr/>
        </p:nvSpPr>
        <p:spPr>
          <a:xfrm>
            <a:off x="514350" y="6076950"/>
            <a:ext cx="111633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AI 보조: 영문 검색 표현·한국어 참고 번역  /  IRDI 출처: 연결한 ECLASS 사전</a:t>
            </a:r>
          </a:p>
        </p:txBody>
      </p:sp>
    </p:spTree>
    <p:extLst>
      <p:ext uri="{BB962C8B-B14F-4D97-AF65-F5344CB8AC3E}">
        <p14:creationId xmlns:p14="http://schemas.microsoft.com/office/powerpoint/2010/main" val="1048620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-268">
            <a:extLst>
              <a:ext uri="{FF2B5EF4-FFF2-40B4-BE49-F238E27FC236}">
                <a16:creationId xmlns:a16="http://schemas.microsoft.com/office/drawing/2014/main" id="{A4157C07-3201-48B2-BF41-BEF63B9452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269">
            <a:extLst>
              <a:ext uri="{FF2B5EF4-FFF2-40B4-BE49-F238E27FC236}">
                <a16:creationId xmlns:a16="http://schemas.microsoft.com/office/drawing/2014/main" id="{4B926C61-4A93-4B26-A1D2-CFBE0DF367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270">
            <a:extLst>
              <a:ext uri="{FF2B5EF4-FFF2-40B4-BE49-F238E27FC236}">
                <a16:creationId xmlns:a16="http://schemas.microsoft.com/office/drawing/2014/main" id="{4D2E68F6-757F-49BA-BDED-A2F37562D2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271">
            <a:extLst>
              <a:ext uri="{FF2B5EF4-FFF2-40B4-BE49-F238E27FC236}">
                <a16:creationId xmlns:a16="http://schemas.microsoft.com/office/drawing/2014/main" id="{2145AD17-E2ED-42FE-8183-7DD44B58AE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272">
            <a:extLst>
              <a:ext uri="{FF2B5EF4-FFF2-40B4-BE49-F238E27FC236}">
                <a16:creationId xmlns:a16="http://schemas.microsoft.com/office/drawing/2014/main" id="{EF6E3EE1-9C7F-44DF-8189-6D230C282E8B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273">
            <a:extLst>
              <a:ext uri="{FF2B5EF4-FFF2-40B4-BE49-F238E27FC236}">
                <a16:creationId xmlns:a16="http://schemas.microsoft.com/office/drawing/2014/main" id="{6720C4A8-F73A-4C20-9990-1DC0A24270EE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274">
            <a:extLst>
              <a:ext uri="{FF2B5EF4-FFF2-40B4-BE49-F238E27FC236}">
                <a16:creationId xmlns:a16="http://schemas.microsoft.com/office/drawing/2014/main" id="{CE9A72AE-7CEA-429D-852E-415405BA006D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275">
            <a:extLst>
              <a:ext uri="{FF2B5EF4-FFF2-40B4-BE49-F238E27FC236}">
                <a16:creationId xmlns:a16="http://schemas.microsoft.com/office/drawing/2014/main" id="{508AFBDC-80D6-4082-A345-5BA239B110B9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A.-2</a:t>
            </a:r>
          </a:p>
        </p:txBody>
      </p:sp>
      <p:sp>
        <p:nvSpPr>
          <p:cNvPr id="9" name="shape-276">
            <a:extLst>
              <a:ext uri="{FF2B5EF4-FFF2-40B4-BE49-F238E27FC236}">
                <a16:creationId xmlns:a16="http://schemas.microsoft.com/office/drawing/2014/main" id="{A391D7B8-1AC1-4C5C-9A81-76F7CCED4BA3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277">
            <a:extLst>
              <a:ext uri="{FF2B5EF4-FFF2-40B4-BE49-F238E27FC236}">
                <a16:creationId xmlns:a16="http://schemas.microsoft.com/office/drawing/2014/main" id="{DC57D2F6-FBD5-4E6D-8100-F4807807CF59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사전 통합 처리</a:t>
            </a:r>
          </a:p>
        </p:txBody>
      </p:sp>
      <p:sp>
        <p:nvSpPr>
          <p:cNvPr id="13" name="shape-280">
            <a:extLst>
              <a:ext uri="{FF2B5EF4-FFF2-40B4-BE49-F238E27FC236}">
                <a16:creationId xmlns:a16="http://schemas.microsoft.com/office/drawing/2014/main" id="{41A4A19F-2F19-47C8-8736-A8AF620134F3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281">
            <a:extLst>
              <a:ext uri="{FF2B5EF4-FFF2-40B4-BE49-F238E27FC236}">
                <a16:creationId xmlns:a16="http://schemas.microsoft.com/office/drawing/2014/main" id="{6D251EEF-6AA4-4687-821A-2EBC00EF572A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282">
            <a:extLst>
              <a:ext uri="{FF2B5EF4-FFF2-40B4-BE49-F238E27FC236}">
                <a16:creationId xmlns:a16="http://schemas.microsoft.com/office/drawing/2014/main" id="{56C40B77-97B7-4D4C-85DC-1DB26A1B529E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13</a:t>
            </a:r>
          </a:p>
        </p:txBody>
      </p:sp>
      <p:pic>
        <p:nvPicPr>
          <p:cNvPr id="9001" name="Updated diagram 13" descr="User supplied replacement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098" y="1238250"/>
            <a:ext cx="9319803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9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-284">
            <a:extLst>
              <a:ext uri="{FF2B5EF4-FFF2-40B4-BE49-F238E27FC236}">
                <a16:creationId xmlns:a16="http://schemas.microsoft.com/office/drawing/2014/main" id="{17FA69F5-3C16-4EBA-8A47-D115174841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285">
            <a:extLst>
              <a:ext uri="{FF2B5EF4-FFF2-40B4-BE49-F238E27FC236}">
                <a16:creationId xmlns:a16="http://schemas.microsoft.com/office/drawing/2014/main" id="{BAA25F64-3712-41B9-A23B-78A2565351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286">
            <a:extLst>
              <a:ext uri="{FF2B5EF4-FFF2-40B4-BE49-F238E27FC236}">
                <a16:creationId xmlns:a16="http://schemas.microsoft.com/office/drawing/2014/main" id="{0607AE79-0947-4678-837A-A997DC8B55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287">
            <a:extLst>
              <a:ext uri="{FF2B5EF4-FFF2-40B4-BE49-F238E27FC236}">
                <a16:creationId xmlns:a16="http://schemas.microsoft.com/office/drawing/2014/main" id="{331B790E-E98B-496B-B6A6-5948C23C82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288">
            <a:extLst>
              <a:ext uri="{FF2B5EF4-FFF2-40B4-BE49-F238E27FC236}">
                <a16:creationId xmlns:a16="http://schemas.microsoft.com/office/drawing/2014/main" id="{B6158609-DF86-4E1F-8039-409355F97568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289">
            <a:extLst>
              <a:ext uri="{FF2B5EF4-FFF2-40B4-BE49-F238E27FC236}">
                <a16:creationId xmlns:a16="http://schemas.microsoft.com/office/drawing/2014/main" id="{603F678A-2603-4A01-8D82-64289390FDD1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290">
            <a:extLst>
              <a:ext uri="{FF2B5EF4-FFF2-40B4-BE49-F238E27FC236}">
                <a16:creationId xmlns:a16="http://schemas.microsoft.com/office/drawing/2014/main" id="{5EB3FBAF-26DC-4BD4-A9F8-C12AF779C2A7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291">
            <a:extLst>
              <a:ext uri="{FF2B5EF4-FFF2-40B4-BE49-F238E27FC236}">
                <a16:creationId xmlns:a16="http://schemas.microsoft.com/office/drawing/2014/main" id="{2490BE27-CD50-4468-8DBA-52B48AB6CEA9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A.-3</a:t>
            </a:r>
          </a:p>
        </p:txBody>
      </p:sp>
      <p:sp>
        <p:nvSpPr>
          <p:cNvPr id="9" name="shape-292">
            <a:extLst>
              <a:ext uri="{FF2B5EF4-FFF2-40B4-BE49-F238E27FC236}">
                <a16:creationId xmlns:a16="http://schemas.microsoft.com/office/drawing/2014/main" id="{B94BFF4B-BD66-4CF6-B3DA-3485490A0509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293">
            <a:extLst>
              <a:ext uri="{FF2B5EF4-FFF2-40B4-BE49-F238E27FC236}">
                <a16:creationId xmlns:a16="http://schemas.microsoft.com/office/drawing/2014/main" id="{1BC27FB2-5587-4E48-83B1-3F4728AC296F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후보 검색과 순위 산정</a:t>
            </a:r>
          </a:p>
        </p:txBody>
      </p:sp>
      <p:sp>
        <p:nvSpPr>
          <p:cNvPr id="11" name="shape-294">
            <a:extLst>
              <a:ext uri="{FF2B5EF4-FFF2-40B4-BE49-F238E27FC236}">
                <a16:creationId xmlns:a16="http://schemas.microsoft.com/office/drawing/2014/main" id="{265982F2-0F4B-4E9F-A303-AC766EDFCB32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어휘 일치·핵심 의미·적용 조건을 결합하는 규칙 기반 우선순위 산정</a:t>
            </a:r>
          </a:p>
        </p:txBody>
      </p:sp>
      <p:sp>
        <p:nvSpPr>
          <p:cNvPr id="12" name="shape-295">
            <a:extLst>
              <a:ext uri="{FF2B5EF4-FFF2-40B4-BE49-F238E27FC236}">
                <a16:creationId xmlns:a16="http://schemas.microsoft.com/office/drawing/2014/main" id="{EC91EBAD-71A5-48CA-8052-F12F0196F6D1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296">
            <a:extLst>
              <a:ext uri="{FF2B5EF4-FFF2-40B4-BE49-F238E27FC236}">
                <a16:creationId xmlns:a16="http://schemas.microsoft.com/office/drawing/2014/main" id="{524E0798-5E47-4D5B-AE2B-0BEF36CCF46C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297">
            <a:extLst>
              <a:ext uri="{FF2B5EF4-FFF2-40B4-BE49-F238E27FC236}">
                <a16:creationId xmlns:a16="http://schemas.microsoft.com/office/drawing/2014/main" id="{3593E582-9DED-405C-9933-F46AFB3C5041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298">
            <a:extLst>
              <a:ext uri="{FF2B5EF4-FFF2-40B4-BE49-F238E27FC236}">
                <a16:creationId xmlns:a16="http://schemas.microsoft.com/office/drawing/2014/main" id="{1E7FA674-4127-4200-A825-ABC90CBBAF12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14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94649A3-2A5B-400F-85F5-DCABBA9F0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26347" y="1866900"/>
            <a:ext cx="6539307" cy="2724150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B7F3671C-E32C-4D79-A772-0A5FCE2A62FB}"/>
              </a:ext>
            </a:extLst>
          </p:cNvPr>
          <p:cNvGraphicFramePr/>
          <p:nvPr/>
        </p:nvGraphicFramePr>
        <p:xfrm>
          <a:off x="514350" y="4838700"/>
          <a:ext cx="4953000" cy="904876"/>
        </p:xfrm>
        <a:graphic>
          <a:graphicData uri="http://schemas.openxmlformats.org/drawingml/2006/table">
            <a:tbl>
              <a:tblPr/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일치 필드</a:t>
                      </a:r>
                    </a:p>
                  </a:txBody>
                  <a:tcPr anchor="ctr">
                    <a:lnL w="9525">
                      <a:solidFill>
                        <a:srgbClr val="D6E7F6"/>
                      </a:solidFill>
                      <a:prstDash val="soli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명칭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동의어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정의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가중치</a:t>
                      </a:r>
                    </a:p>
                  </a:txBody>
                  <a:tcPr anchor="ctr">
                    <a:lnL w="9525">
                      <a:solidFill>
                        <a:srgbClr val="D6E7F6"/>
                      </a:solidFill>
                      <a:prstDash val="soli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8" name="shape-299">
            <a:extLst>
              <a:ext uri="{FF2B5EF4-FFF2-40B4-BE49-F238E27FC236}">
                <a16:creationId xmlns:a16="http://schemas.microsoft.com/office/drawing/2014/main" id="{55604B11-BCE8-43FD-9D4B-1708BA63E47E}"/>
              </a:ext>
            </a:extLst>
          </p:cNvPr>
          <p:cNvSpPr>
            <a:spLocks noGrp="1"/>
          </p:cNvSpPr>
          <p:nvPr/>
        </p:nvSpPr>
        <p:spPr>
          <a:xfrm>
            <a:off x="5962650" y="4886325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희소 단어·전체 명칭 일치에 가중치 부여</a:t>
            </a:r>
          </a:p>
        </p:txBody>
      </p:sp>
      <p:sp>
        <p:nvSpPr>
          <p:cNvPr id="19" name="shape-300">
            <a:extLst>
              <a:ext uri="{FF2B5EF4-FFF2-40B4-BE49-F238E27FC236}">
                <a16:creationId xmlns:a16="http://schemas.microsoft.com/office/drawing/2014/main" id="{E7AD47A5-FC9A-48D8-B013-E8845DA24C7A}"/>
              </a:ext>
            </a:extLst>
          </p:cNvPr>
          <p:cNvSpPr>
            <a:spLocks noGrp="1"/>
          </p:cNvSpPr>
          <p:nvPr/>
        </p:nvSpPr>
        <p:spPr>
          <a:xfrm>
            <a:off x="5962650" y="5362575"/>
            <a:ext cx="5715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대상 범위·단위·데이터형 조정, 충돌 후보 후순위</a:t>
            </a:r>
          </a:p>
        </p:txBody>
      </p:sp>
      <p:sp>
        <p:nvSpPr>
          <p:cNvPr id="20" name="shape-301">
            <a:extLst>
              <a:ext uri="{FF2B5EF4-FFF2-40B4-BE49-F238E27FC236}">
                <a16:creationId xmlns:a16="http://schemas.microsoft.com/office/drawing/2014/main" id="{93B10635-03C4-40C6-A857-8A1EF963C32A}"/>
              </a:ext>
            </a:extLst>
          </p:cNvPr>
          <p:cNvSpPr>
            <a:spLocks noGrp="1"/>
          </p:cNvSpPr>
          <p:nvPr/>
        </p:nvSpPr>
        <p:spPr>
          <a:xfrm>
            <a:off x="514350" y="6076950"/>
            <a:ext cx="111633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기본 산식: 단어 중요도(IDF) × 필드 가중치 × 일치율  /  표시 순위는 정답 확률과 별개</a:t>
            </a:r>
          </a:p>
        </p:txBody>
      </p:sp>
    </p:spTree>
    <p:extLst>
      <p:ext uri="{BB962C8B-B14F-4D97-AF65-F5344CB8AC3E}">
        <p14:creationId xmlns:p14="http://schemas.microsoft.com/office/powerpoint/2010/main" val="1692479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-302">
            <a:extLst>
              <a:ext uri="{FF2B5EF4-FFF2-40B4-BE49-F238E27FC236}">
                <a16:creationId xmlns:a16="http://schemas.microsoft.com/office/drawing/2014/main" id="{123683E7-64D7-4D3D-82EC-E4D69FE92D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03">
            <a:extLst>
              <a:ext uri="{FF2B5EF4-FFF2-40B4-BE49-F238E27FC236}">
                <a16:creationId xmlns:a16="http://schemas.microsoft.com/office/drawing/2014/main" id="{92108320-14D3-4F03-92BD-F2198BDC36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04">
            <a:extLst>
              <a:ext uri="{FF2B5EF4-FFF2-40B4-BE49-F238E27FC236}">
                <a16:creationId xmlns:a16="http://schemas.microsoft.com/office/drawing/2014/main" id="{84E421DF-A09C-4BC4-A09F-31DA82988B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05">
            <a:extLst>
              <a:ext uri="{FF2B5EF4-FFF2-40B4-BE49-F238E27FC236}">
                <a16:creationId xmlns:a16="http://schemas.microsoft.com/office/drawing/2014/main" id="{7E9AA30E-5D8F-406C-938B-6CD1495E1D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06">
            <a:extLst>
              <a:ext uri="{FF2B5EF4-FFF2-40B4-BE49-F238E27FC236}">
                <a16:creationId xmlns:a16="http://schemas.microsoft.com/office/drawing/2014/main" id="{098D90A9-B145-47CC-805C-66D69708F249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07">
            <a:extLst>
              <a:ext uri="{FF2B5EF4-FFF2-40B4-BE49-F238E27FC236}">
                <a16:creationId xmlns:a16="http://schemas.microsoft.com/office/drawing/2014/main" id="{9E78BE50-7621-4828-9CF4-3FB2352C5584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08">
            <a:extLst>
              <a:ext uri="{FF2B5EF4-FFF2-40B4-BE49-F238E27FC236}">
                <a16:creationId xmlns:a16="http://schemas.microsoft.com/office/drawing/2014/main" id="{CEDB2B81-214F-47F6-AEAD-9B72D37F7CFF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09">
            <a:extLst>
              <a:ext uri="{FF2B5EF4-FFF2-40B4-BE49-F238E27FC236}">
                <a16:creationId xmlns:a16="http://schemas.microsoft.com/office/drawing/2014/main" id="{F52FED40-0138-4631-9A24-8CAA6BAA3A02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A.-4</a:t>
            </a:r>
          </a:p>
        </p:txBody>
      </p:sp>
      <p:sp>
        <p:nvSpPr>
          <p:cNvPr id="9" name="shape-310">
            <a:extLst>
              <a:ext uri="{FF2B5EF4-FFF2-40B4-BE49-F238E27FC236}">
                <a16:creationId xmlns:a16="http://schemas.microsoft.com/office/drawing/2014/main" id="{EDB61B9E-ECB9-4680-892B-5DEF90C3E8D8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311">
            <a:extLst>
              <a:ext uri="{FF2B5EF4-FFF2-40B4-BE49-F238E27FC236}">
                <a16:creationId xmlns:a16="http://schemas.microsoft.com/office/drawing/2014/main" id="{18CA3B19-A07D-43C9-BF06-57D0F260D29B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적용 조건에 따른 의미 구분</a:t>
            </a:r>
          </a:p>
        </p:txBody>
      </p:sp>
      <p:sp>
        <p:nvSpPr>
          <p:cNvPr id="13" name="shape-314">
            <a:extLst>
              <a:ext uri="{FF2B5EF4-FFF2-40B4-BE49-F238E27FC236}">
                <a16:creationId xmlns:a16="http://schemas.microsoft.com/office/drawing/2014/main" id="{7A9E1808-A676-4C08-9433-6B211D701049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15">
            <a:extLst>
              <a:ext uri="{FF2B5EF4-FFF2-40B4-BE49-F238E27FC236}">
                <a16:creationId xmlns:a16="http://schemas.microsoft.com/office/drawing/2014/main" id="{342EEEF3-6284-4652-B588-91795B3F2E91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16">
            <a:extLst>
              <a:ext uri="{FF2B5EF4-FFF2-40B4-BE49-F238E27FC236}">
                <a16:creationId xmlns:a16="http://schemas.microsoft.com/office/drawing/2014/main" id="{8F112215-B436-4457-A0B6-3FEEA1C31185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15</a:t>
            </a:r>
          </a:p>
        </p:txBody>
      </p:sp>
      <p:pic>
        <p:nvPicPr>
          <p:cNvPr id="9001" name="Updated diagram 15" descr="User supplied replacement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131" y="1857375"/>
            <a:ext cx="8167738" cy="4572000"/>
          </a:xfrm>
          <a:prstGeom prst="rect">
            <a:avLst/>
          </a:prstGeom>
        </p:spPr>
      </p:pic>
      <p:sp>
        <p:nvSpPr>
          <p:cNvPr id="11" name="shape-312">
            <a:extLst>
              <a:ext uri="{FF2B5EF4-FFF2-40B4-BE49-F238E27FC236}">
                <a16:creationId xmlns:a16="http://schemas.microsoft.com/office/drawing/2014/main" id="{28FB4C5D-12C0-4450-BE6C-5DDBA388F6DD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장비·대상·값의 역할과 단위·데이터형을 활용한 후보 적합성 검토</a:t>
            </a:r>
          </a:p>
        </p:txBody>
      </p:sp>
      <p:sp>
        <p:nvSpPr>
          <p:cNvPr id="12" name="shape-313">
            <a:extLst>
              <a:ext uri="{FF2B5EF4-FFF2-40B4-BE49-F238E27FC236}">
                <a16:creationId xmlns:a16="http://schemas.microsoft.com/office/drawing/2014/main" id="{A442D77F-3585-4D7C-B1C7-C6B2A8F8DB80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2962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-323">
            <a:extLst>
              <a:ext uri="{FF2B5EF4-FFF2-40B4-BE49-F238E27FC236}">
                <a16:creationId xmlns:a16="http://schemas.microsoft.com/office/drawing/2014/main" id="{017428E9-B45A-4FD5-9DEF-E4627C9793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24">
            <a:extLst>
              <a:ext uri="{FF2B5EF4-FFF2-40B4-BE49-F238E27FC236}">
                <a16:creationId xmlns:a16="http://schemas.microsoft.com/office/drawing/2014/main" id="{4F3730EA-2AC7-4A4A-A575-16D2C5A23D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25">
            <a:extLst>
              <a:ext uri="{FF2B5EF4-FFF2-40B4-BE49-F238E27FC236}">
                <a16:creationId xmlns:a16="http://schemas.microsoft.com/office/drawing/2014/main" id="{4240E7BE-8D59-4E45-9D76-186BD88DF5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26">
            <a:extLst>
              <a:ext uri="{FF2B5EF4-FFF2-40B4-BE49-F238E27FC236}">
                <a16:creationId xmlns:a16="http://schemas.microsoft.com/office/drawing/2014/main" id="{7A5695CD-A0CD-492C-BBAC-12309344BD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27">
            <a:extLst>
              <a:ext uri="{FF2B5EF4-FFF2-40B4-BE49-F238E27FC236}">
                <a16:creationId xmlns:a16="http://schemas.microsoft.com/office/drawing/2014/main" id="{C9D466C9-0FD9-4A56-ADD7-CEE44BD2BDEC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28">
            <a:extLst>
              <a:ext uri="{FF2B5EF4-FFF2-40B4-BE49-F238E27FC236}">
                <a16:creationId xmlns:a16="http://schemas.microsoft.com/office/drawing/2014/main" id="{D5382AE5-62D4-4454-9FA8-BB6262E91332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29">
            <a:extLst>
              <a:ext uri="{FF2B5EF4-FFF2-40B4-BE49-F238E27FC236}">
                <a16:creationId xmlns:a16="http://schemas.microsoft.com/office/drawing/2014/main" id="{05D761D2-4E28-47B6-9011-A208CBF6E8B2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30">
            <a:extLst>
              <a:ext uri="{FF2B5EF4-FFF2-40B4-BE49-F238E27FC236}">
                <a16:creationId xmlns:a16="http://schemas.microsoft.com/office/drawing/2014/main" id="{61A69B87-466D-40D1-89E4-7E43C5544A72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A.-5</a:t>
            </a:r>
          </a:p>
        </p:txBody>
      </p:sp>
      <p:sp>
        <p:nvSpPr>
          <p:cNvPr id="9" name="shape-331">
            <a:extLst>
              <a:ext uri="{FF2B5EF4-FFF2-40B4-BE49-F238E27FC236}">
                <a16:creationId xmlns:a16="http://schemas.microsoft.com/office/drawing/2014/main" id="{F82BCAEE-B447-4862-9D95-C4CEF0C09F8A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332">
            <a:extLst>
              <a:ext uri="{FF2B5EF4-FFF2-40B4-BE49-F238E27FC236}">
                <a16:creationId xmlns:a16="http://schemas.microsoft.com/office/drawing/2014/main" id="{AC346EE3-E132-48EF-BF7B-11F13F73AA3A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오프라인 AI와 처리 결과 저장·재사용</a:t>
            </a:r>
          </a:p>
        </p:txBody>
      </p:sp>
      <p:sp>
        <p:nvSpPr>
          <p:cNvPr id="11" name="shape-333">
            <a:extLst>
              <a:ext uri="{FF2B5EF4-FFF2-40B4-BE49-F238E27FC236}">
                <a16:creationId xmlns:a16="http://schemas.microsoft.com/office/drawing/2014/main" id="{A634F483-5D1E-45D8-9B54-FC67D47F83AC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필요한 요청만 PC에서 추론하고 완료된 결과는 로컬 저장소에서 재사용</a:t>
            </a:r>
          </a:p>
        </p:txBody>
      </p:sp>
      <p:sp>
        <p:nvSpPr>
          <p:cNvPr id="12" name="shape-334">
            <a:extLst>
              <a:ext uri="{FF2B5EF4-FFF2-40B4-BE49-F238E27FC236}">
                <a16:creationId xmlns:a16="http://schemas.microsoft.com/office/drawing/2014/main" id="{9FA184DD-344D-4239-87F0-3A22D0729BAA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335">
            <a:extLst>
              <a:ext uri="{FF2B5EF4-FFF2-40B4-BE49-F238E27FC236}">
                <a16:creationId xmlns:a16="http://schemas.microsoft.com/office/drawing/2014/main" id="{BFD93E17-6661-437C-AD85-46D7AB7F896E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36">
            <a:extLst>
              <a:ext uri="{FF2B5EF4-FFF2-40B4-BE49-F238E27FC236}">
                <a16:creationId xmlns:a16="http://schemas.microsoft.com/office/drawing/2014/main" id="{765A3B2D-D328-449D-9489-880607E81C4D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37">
            <a:extLst>
              <a:ext uri="{FF2B5EF4-FFF2-40B4-BE49-F238E27FC236}">
                <a16:creationId xmlns:a16="http://schemas.microsoft.com/office/drawing/2014/main" id="{F66E58AA-93EE-4165-BDA5-C7CEDDA51A3F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16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557FA01-6919-42F0-8282-54F8AC7A55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900"/>
          <a:stretch/>
        </p:blipFill>
        <p:spPr>
          <a:xfrm>
            <a:off x="514350" y="1847850"/>
            <a:ext cx="11163300" cy="4133850"/>
          </a:xfrm>
          <a:prstGeom prst="rect">
            <a:avLst/>
          </a:prstGeom>
        </p:spPr>
      </p:pic>
      <p:sp>
        <p:nvSpPr>
          <p:cNvPr id="17" name="shape-338">
            <a:extLst>
              <a:ext uri="{FF2B5EF4-FFF2-40B4-BE49-F238E27FC236}">
                <a16:creationId xmlns:a16="http://schemas.microsoft.com/office/drawing/2014/main" id="{9C71A411-94AE-4BB7-A940-F5FE81F4EAED}"/>
              </a:ext>
            </a:extLst>
          </p:cNvPr>
          <p:cNvSpPr>
            <a:spLocks noGrp="1"/>
          </p:cNvSpPr>
          <p:nvPr/>
        </p:nvSpPr>
        <p:spPr>
          <a:xfrm>
            <a:off x="514350" y="6076950"/>
            <a:ext cx="111633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한 번 처리한 검색어 해석·정의 번역 결과를 PC에 저장하고 같은 요청에 재사용</a:t>
            </a:r>
          </a:p>
        </p:txBody>
      </p:sp>
    </p:spTree>
    <p:extLst>
      <p:ext uri="{BB962C8B-B14F-4D97-AF65-F5344CB8AC3E}">
        <p14:creationId xmlns:p14="http://schemas.microsoft.com/office/powerpoint/2010/main" val="277160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-323">
            <a:extLst>
              <a:ext uri="{FF2B5EF4-FFF2-40B4-BE49-F238E27FC236}">
                <a16:creationId xmlns:a16="http://schemas.microsoft.com/office/drawing/2014/main" id="{017428E9-B45A-4FD5-9DEF-E4627C9793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24">
            <a:extLst>
              <a:ext uri="{FF2B5EF4-FFF2-40B4-BE49-F238E27FC236}">
                <a16:creationId xmlns:a16="http://schemas.microsoft.com/office/drawing/2014/main" id="{4F3730EA-2AC7-4A4A-A575-16D2C5A23D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25">
            <a:extLst>
              <a:ext uri="{FF2B5EF4-FFF2-40B4-BE49-F238E27FC236}">
                <a16:creationId xmlns:a16="http://schemas.microsoft.com/office/drawing/2014/main" id="{4240E7BE-8D59-4E45-9D76-186BD88DF5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26">
            <a:extLst>
              <a:ext uri="{FF2B5EF4-FFF2-40B4-BE49-F238E27FC236}">
                <a16:creationId xmlns:a16="http://schemas.microsoft.com/office/drawing/2014/main" id="{7A5695CD-A0CD-492C-BBAC-12309344BD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27">
            <a:extLst>
              <a:ext uri="{FF2B5EF4-FFF2-40B4-BE49-F238E27FC236}">
                <a16:creationId xmlns:a16="http://schemas.microsoft.com/office/drawing/2014/main" id="{C9D466C9-0FD9-4A56-ADD7-CEE44BD2BDEC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28">
            <a:extLst>
              <a:ext uri="{FF2B5EF4-FFF2-40B4-BE49-F238E27FC236}">
                <a16:creationId xmlns:a16="http://schemas.microsoft.com/office/drawing/2014/main" id="{D5382AE5-62D4-4454-9FA8-BB6262E91332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29">
            <a:extLst>
              <a:ext uri="{FF2B5EF4-FFF2-40B4-BE49-F238E27FC236}">
                <a16:creationId xmlns:a16="http://schemas.microsoft.com/office/drawing/2014/main" id="{05D761D2-4E28-47B6-9011-A208CBF6E8B2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30">
            <a:extLst>
              <a:ext uri="{FF2B5EF4-FFF2-40B4-BE49-F238E27FC236}">
                <a16:creationId xmlns:a16="http://schemas.microsoft.com/office/drawing/2014/main" id="{61A69B87-466D-40D1-89E4-7E43C5544A72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A.-6</a:t>
            </a:r>
          </a:p>
        </p:txBody>
      </p:sp>
      <p:sp>
        <p:nvSpPr>
          <p:cNvPr id="9" name="shape-331">
            <a:extLst>
              <a:ext uri="{FF2B5EF4-FFF2-40B4-BE49-F238E27FC236}">
                <a16:creationId xmlns:a16="http://schemas.microsoft.com/office/drawing/2014/main" id="{F82BCAEE-B447-4862-9D95-C4CEF0C09F8A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332">
            <a:extLst>
              <a:ext uri="{FF2B5EF4-FFF2-40B4-BE49-F238E27FC236}">
                <a16:creationId xmlns:a16="http://schemas.microsoft.com/office/drawing/2014/main" id="{AC346EE3-E132-48EF-BF7B-11F13F73AA3A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모델·실행 도구와 결과 재사용 기준</a:t>
            </a:r>
          </a:p>
        </p:txBody>
      </p:sp>
      <p:sp>
        <p:nvSpPr>
          <p:cNvPr id="11" name="shape-333">
            <a:extLst>
              <a:ext uri="{FF2B5EF4-FFF2-40B4-BE49-F238E27FC236}">
                <a16:creationId xmlns:a16="http://schemas.microsoft.com/office/drawing/2014/main" id="{A634F483-5D1E-45D8-9B54-FC67D47F83AC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언어 모델의 역할과 PC 실행 방식, 저장 결과를 구분하는 기준의 이해</a:t>
            </a:r>
          </a:p>
        </p:txBody>
      </p:sp>
      <p:sp>
        <p:nvSpPr>
          <p:cNvPr id="12" name="shape-334">
            <a:extLst>
              <a:ext uri="{FF2B5EF4-FFF2-40B4-BE49-F238E27FC236}">
                <a16:creationId xmlns:a16="http://schemas.microsoft.com/office/drawing/2014/main" id="{9FA184DD-344D-4239-87F0-3A22D0729BAA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335">
            <a:extLst>
              <a:ext uri="{FF2B5EF4-FFF2-40B4-BE49-F238E27FC236}">
                <a16:creationId xmlns:a16="http://schemas.microsoft.com/office/drawing/2014/main" id="{BFD93E17-6661-437C-AD85-46D7AB7F896E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36">
            <a:extLst>
              <a:ext uri="{FF2B5EF4-FFF2-40B4-BE49-F238E27FC236}">
                <a16:creationId xmlns:a16="http://schemas.microsoft.com/office/drawing/2014/main" id="{765A3B2D-D328-449D-9489-880607E81C4D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37">
            <a:extLst>
              <a:ext uri="{FF2B5EF4-FFF2-40B4-BE49-F238E27FC236}">
                <a16:creationId xmlns:a16="http://schemas.microsoft.com/office/drawing/2014/main" id="{F66E58AA-93EE-4165-BDA5-C7CEDDA51A3F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17</a:t>
            </a:r>
          </a:p>
        </p:txBody>
      </p:sp>
      <p:pic>
        <p:nvPicPr>
          <p:cNvPr id="9001" name="Updated diagram 21" descr="User supplied replacement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667" y="1857375"/>
            <a:ext cx="1083266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601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-339">
            <a:extLst>
              <a:ext uri="{FF2B5EF4-FFF2-40B4-BE49-F238E27FC236}">
                <a16:creationId xmlns:a16="http://schemas.microsoft.com/office/drawing/2014/main" id="{81903A61-3BEC-40E0-807F-D659B8E719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40">
            <a:extLst>
              <a:ext uri="{FF2B5EF4-FFF2-40B4-BE49-F238E27FC236}">
                <a16:creationId xmlns:a16="http://schemas.microsoft.com/office/drawing/2014/main" id="{212F467E-47F9-462D-8CA3-B6953B08A7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41">
            <a:extLst>
              <a:ext uri="{FF2B5EF4-FFF2-40B4-BE49-F238E27FC236}">
                <a16:creationId xmlns:a16="http://schemas.microsoft.com/office/drawing/2014/main" id="{54E370E6-8E7C-428E-A7FE-0AA0B1B3D9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42">
            <a:extLst>
              <a:ext uri="{FF2B5EF4-FFF2-40B4-BE49-F238E27FC236}">
                <a16:creationId xmlns:a16="http://schemas.microsoft.com/office/drawing/2014/main" id="{4B3922C9-5868-4E08-BAF3-1984E48F7A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43">
            <a:extLst>
              <a:ext uri="{FF2B5EF4-FFF2-40B4-BE49-F238E27FC236}">
                <a16:creationId xmlns:a16="http://schemas.microsoft.com/office/drawing/2014/main" id="{0DD08AB9-44E5-493C-8B87-73A3B6F3133A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44">
            <a:extLst>
              <a:ext uri="{FF2B5EF4-FFF2-40B4-BE49-F238E27FC236}">
                <a16:creationId xmlns:a16="http://schemas.microsoft.com/office/drawing/2014/main" id="{C18D9B90-305A-4DDF-BC5F-69FF7165AD64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45">
            <a:extLst>
              <a:ext uri="{FF2B5EF4-FFF2-40B4-BE49-F238E27FC236}">
                <a16:creationId xmlns:a16="http://schemas.microsoft.com/office/drawing/2014/main" id="{5A7D1E0B-7FB0-4291-B56B-45C1DFCD069C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46">
            <a:extLst>
              <a:ext uri="{FF2B5EF4-FFF2-40B4-BE49-F238E27FC236}">
                <a16:creationId xmlns:a16="http://schemas.microsoft.com/office/drawing/2014/main" id="{BAC3A76B-F9C6-4A02-BF68-DA7C048DE649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A.-7</a:t>
            </a:r>
          </a:p>
        </p:txBody>
      </p:sp>
      <p:sp>
        <p:nvSpPr>
          <p:cNvPr id="9" name="shape-347">
            <a:extLst>
              <a:ext uri="{FF2B5EF4-FFF2-40B4-BE49-F238E27FC236}">
                <a16:creationId xmlns:a16="http://schemas.microsoft.com/office/drawing/2014/main" id="{499589F2-647A-4702-A190-33EA91A0045C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348">
            <a:extLst>
              <a:ext uri="{FF2B5EF4-FFF2-40B4-BE49-F238E27FC236}">
                <a16:creationId xmlns:a16="http://schemas.microsoft.com/office/drawing/2014/main" id="{2D29DA5F-59B4-45C0-BACA-F8A357F67541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확정 이력의 저장과 삭제</a:t>
            </a:r>
          </a:p>
        </p:txBody>
      </p:sp>
      <p:sp>
        <p:nvSpPr>
          <p:cNvPr id="11" name="shape-349">
            <a:extLst>
              <a:ext uri="{FF2B5EF4-FFF2-40B4-BE49-F238E27FC236}">
                <a16:creationId xmlns:a16="http://schemas.microsoft.com/office/drawing/2014/main" id="{569BD444-63C8-4A6E-97E0-B9A892A18BF3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사용자 결정의 근거·사전 버전·검색 조건을 함께 보존하는 기록 구조</a:t>
            </a:r>
          </a:p>
        </p:txBody>
      </p:sp>
      <p:sp>
        <p:nvSpPr>
          <p:cNvPr id="12" name="shape-350">
            <a:extLst>
              <a:ext uri="{FF2B5EF4-FFF2-40B4-BE49-F238E27FC236}">
                <a16:creationId xmlns:a16="http://schemas.microsoft.com/office/drawing/2014/main" id="{8E3488FD-2C4E-47BE-AD5E-602BD508C1CB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351">
            <a:extLst>
              <a:ext uri="{FF2B5EF4-FFF2-40B4-BE49-F238E27FC236}">
                <a16:creationId xmlns:a16="http://schemas.microsoft.com/office/drawing/2014/main" id="{BF5D2EDA-873E-4737-B3B4-4BBC76C58C4E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52">
            <a:extLst>
              <a:ext uri="{FF2B5EF4-FFF2-40B4-BE49-F238E27FC236}">
                <a16:creationId xmlns:a16="http://schemas.microsoft.com/office/drawing/2014/main" id="{CF625EAD-F258-4BB4-9327-405808071775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53">
            <a:extLst>
              <a:ext uri="{FF2B5EF4-FFF2-40B4-BE49-F238E27FC236}">
                <a16:creationId xmlns:a16="http://schemas.microsoft.com/office/drawing/2014/main" id="{0889E20A-979F-40F2-A488-00F202AE8F2F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18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F5C0198-4359-482B-AD2C-8A5CDB8D1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37514" y="1876425"/>
            <a:ext cx="8116972" cy="3381375"/>
          </a:xfrm>
          <a:prstGeom prst="rect">
            <a:avLst/>
          </a:prstGeom>
        </p:spPr>
      </p:pic>
      <p:sp>
        <p:nvSpPr>
          <p:cNvPr id="17" name="shape-354">
            <a:extLst>
              <a:ext uri="{FF2B5EF4-FFF2-40B4-BE49-F238E27FC236}">
                <a16:creationId xmlns:a16="http://schemas.microsoft.com/office/drawing/2014/main" id="{E2267BB1-F1EF-4849-A8CF-AA07A2D9824F}"/>
              </a:ext>
            </a:extLst>
          </p:cNvPr>
          <p:cNvSpPr>
            <a:spLocks noGrp="1"/>
          </p:cNvSpPr>
          <p:nvPr/>
        </p:nvSpPr>
        <p:spPr>
          <a:xfrm>
            <a:off x="514350" y="5391150"/>
            <a:ext cx="2476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저장 전 확인</a:t>
            </a:r>
          </a:p>
        </p:txBody>
      </p:sp>
      <p:sp>
        <p:nvSpPr>
          <p:cNvPr id="18" name="shape-355">
            <a:extLst>
              <a:ext uri="{FF2B5EF4-FFF2-40B4-BE49-F238E27FC236}">
                <a16:creationId xmlns:a16="http://schemas.microsoft.com/office/drawing/2014/main" id="{84BF5981-74BB-4596-9339-2ED1E0D55E30}"/>
              </a:ext>
            </a:extLst>
          </p:cNvPr>
          <p:cNvSpPr>
            <a:spLocks noGrp="1"/>
          </p:cNvSpPr>
          <p:nvPr/>
        </p:nvSpPr>
        <p:spPr>
          <a:xfrm>
            <a:off x="2924175" y="5410200"/>
            <a:ext cx="87534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650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검색 조건·현재 사전의 후보 재조회 · 사용 중단 여부 · 검토자·선정 근거</a:t>
            </a:r>
          </a:p>
        </p:txBody>
      </p:sp>
      <p:sp>
        <p:nvSpPr>
          <p:cNvPr id="19" name="shape-356">
            <a:extLst>
              <a:ext uri="{FF2B5EF4-FFF2-40B4-BE49-F238E27FC236}">
                <a16:creationId xmlns:a16="http://schemas.microsoft.com/office/drawing/2014/main" id="{C1F66C74-6571-4A44-B642-6217F12C38EA}"/>
              </a:ext>
            </a:extLst>
          </p:cNvPr>
          <p:cNvSpPr>
            <a:spLocks noGrp="1"/>
          </p:cNvSpPr>
          <p:nvPr/>
        </p:nvSpPr>
        <p:spPr>
          <a:xfrm>
            <a:off x="514350" y="5810250"/>
            <a:ext cx="11163300" cy="447675"/>
          </a:xfrm>
          <a:prstGeom prst="rect">
            <a:avLst/>
          </a:prstGeom>
          <a:solidFill>
            <a:srgbClr val="EFF7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-357">
            <a:extLst>
              <a:ext uri="{FF2B5EF4-FFF2-40B4-BE49-F238E27FC236}">
                <a16:creationId xmlns:a16="http://schemas.microsoft.com/office/drawing/2014/main" id="{A961FD80-32D0-4F71-89E5-7458D8F9F1B6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8204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5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고유 기록 ID(UUID)로 개별 이력 관리 · 삭제 대상은 선택 기록 1건 · 원본 사전 유지</a:t>
            </a:r>
          </a:p>
        </p:txBody>
      </p:sp>
    </p:spTree>
    <p:extLst>
      <p:ext uri="{BB962C8B-B14F-4D97-AF65-F5344CB8AC3E}">
        <p14:creationId xmlns:p14="http://schemas.microsoft.com/office/powerpoint/2010/main" val="1633606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-358">
            <a:extLst>
              <a:ext uri="{FF2B5EF4-FFF2-40B4-BE49-F238E27FC236}">
                <a16:creationId xmlns:a16="http://schemas.microsoft.com/office/drawing/2014/main" id="{FE5EB19D-8E3A-43C8-A18E-930087E2D1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59">
            <a:extLst>
              <a:ext uri="{FF2B5EF4-FFF2-40B4-BE49-F238E27FC236}">
                <a16:creationId xmlns:a16="http://schemas.microsoft.com/office/drawing/2014/main" id="{ACB3DDB3-9DF8-490D-8A00-A284419966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60">
            <a:extLst>
              <a:ext uri="{FF2B5EF4-FFF2-40B4-BE49-F238E27FC236}">
                <a16:creationId xmlns:a16="http://schemas.microsoft.com/office/drawing/2014/main" id="{5C84A2A3-7D98-4CD8-BD66-30BC4A0D02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61">
            <a:extLst>
              <a:ext uri="{FF2B5EF4-FFF2-40B4-BE49-F238E27FC236}">
                <a16:creationId xmlns:a16="http://schemas.microsoft.com/office/drawing/2014/main" id="{2968E166-5CBE-487C-BEF0-E7BD04EAE6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62">
            <a:extLst>
              <a:ext uri="{FF2B5EF4-FFF2-40B4-BE49-F238E27FC236}">
                <a16:creationId xmlns:a16="http://schemas.microsoft.com/office/drawing/2014/main" id="{E7E7E812-1BF7-4B4C-A394-DBC22F267B13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63">
            <a:extLst>
              <a:ext uri="{FF2B5EF4-FFF2-40B4-BE49-F238E27FC236}">
                <a16:creationId xmlns:a16="http://schemas.microsoft.com/office/drawing/2014/main" id="{50337C82-7B03-457B-A07C-105B68AA2904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64">
            <a:extLst>
              <a:ext uri="{FF2B5EF4-FFF2-40B4-BE49-F238E27FC236}">
                <a16:creationId xmlns:a16="http://schemas.microsoft.com/office/drawing/2014/main" id="{3C0A739D-5B43-42DA-A47E-BC3F018205DD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65">
            <a:extLst>
              <a:ext uri="{FF2B5EF4-FFF2-40B4-BE49-F238E27FC236}">
                <a16:creationId xmlns:a16="http://schemas.microsoft.com/office/drawing/2014/main" id="{67C2B3B8-D742-4D94-A48B-69333B5ED2C0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A.-8</a:t>
            </a:r>
          </a:p>
        </p:txBody>
      </p:sp>
      <p:sp>
        <p:nvSpPr>
          <p:cNvPr id="9" name="shape-366">
            <a:extLst>
              <a:ext uri="{FF2B5EF4-FFF2-40B4-BE49-F238E27FC236}">
                <a16:creationId xmlns:a16="http://schemas.microsoft.com/office/drawing/2014/main" id="{86418F82-6B11-4859-BD24-2B10625FCA57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367">
            <a:extLst>
              <a:ext uri="{FF2B5EF4-FFF2-40B4-BE49-F238E27FC236}">
                <a16:creationId xmlns:a16="http://schemas.microsoft.com/office/drawing/2014/main" id="{08B435CD-66B1-431C-B741-6345751E4BC5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엑셀 일괄 검색과 검토 결과</a:t>
            </a:r>
          </a:p>
        </p:txBody>
      </p:sp>
      <p:sp>
        <p:nvSpPr>
          <p:cNvPr id="13" name="shape-370">
            <a:extLst>
              <a:ext uri="{FF2B5EF4-FFF2-40B4-BE49-F238E27FC236}">
                <a16:creationId xmlns:a16="http://schemas.microsoft.com/office/drawing/2014/main" id="{390960BA-660B-4DE3-AAAA-DA024EA46166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71">
            <a:extLst>
              <a:ext uri="{FF2B5EF4-FFF2-40B4-BE49-F238E27FC236}">
                <a16:creationId xmlns:a16="http://schemas.microsoft.com/office/drawing/2014/main" id="{475D6BDB-3C76-457D-9602-8B1E246E4898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72">
            <a:extLst>
              <a:ext uri="{FF2B5EF4-FFF2-40B4-BE49-F238E27FC236}">
                <a16:creationId xmlns:a16="http://schemas.microsoft.com/office/drawing/2014/main" id="{B345D17D-1AAE-43E3-B64F-8ADE8A603089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19</a:t>
            </a:r>
          </a:p>
        </p:txBody>
      </p:sp>
      <p:pic>
        <p:nvPicPr>
          <p:cNvPr id="9001" name="Updated diagram 18" descr="User supplied replacement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792" y="1857375"/>
            <a:ext cx="8238415" cy="4572000"/>
          </a:xfrm>
          <a:prstGeom prst="rect">
            <a:avLst/>
          </a:prstGeom>
        </p:spPr>
      </p:pic>
      <p:sp>
        <p:nvSpPr>
          <p:cNvPr id="11" name="shape-368">
            <a:extLst>
              <a:ext uri="{FF2B5EF4-FFF2-40B4-BE49-F238E27FC236}">
                <a16:creationId xmlns:a16="http://schemas.microsoft.com/office/drawing/2014/main" id="{906FD64F-6880-41B9-ACA5-84C5373D39EC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입력 행별 후보 검색과 정의·근거의 구조화를 통한 대량 검토 지원</a:t>
            </a:r>
          </a:p>
        </p:txBody>
      </p:sp>
      <p:sp>
        <p:nvSpPr>
          <p:cNvPr id="12" name="shape-369">
            <a:extLst>
              <a:ext uri="{FF2B5EF4-FFF2-40B4-BE49-F238E27FC236}">
                <a16:creationId xmlns:a16="http://schemas.microsoft.com/office/drawing/2014/main" id="{89DAB2D4-64AC-49BA-90FC-846417227BBF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19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-373">
            <a:extLst>
              <a:ext uri="{FF2B5EF4-FFF2-40B4-BE49-F238E27FC236}">
                <a16:creationId xmlns:a16="http://schemas.microsoft.com/office/drawing/2014/main" id="{F2836055-51D8-4367-9CC8-1851D19765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74">
            <a:extLst>
              <a:ext uri="{FF2B5EF4-FFF2-40B4-BE49-F238E27FC236}">
                <a16:creationId xmlns:a16="http://schemas.microsoft.com/office/drawing/2014/main" id="{0150230D-0F1D-4B68-B149-9C25508447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75">
            <a:extLst>
              <a:ext uri="{FF2B5EF4-FFF2-40B4-BE49-F238E27FC236}">
                <a16:creationId xmlns:a16="http://schemas.microsoft.com/office/drawing/2014/main" id="{579F529F-F2C8-4559-AF64-688B101C67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76">
            <a:extLst>
              <a:ext uri="{FF2B5EF4-FFF2-40B4-BE49-F238E27FC236}">
                <a16:creationId xmlns:a16="http://schemas.microsoft.com/office/drawing/2014/main" id="{351AA040-591C-4B3B-B45B-8DAAC68E43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77">
            <a:extLst>
              <a:ext uri="{FF2B5EF4-FFF2-40B4-BE49-F238E27FC236}">
                <a16:creationId xmlns:a16="http://schemas.microsoft.com/office/drawing/2014/main" id="{930AB761-AF0D-4B88-ADE2-2B5210890FE4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78">
            <a:extLst>
              <a:ext uri="{FF2B5EF4-FFF2-40B4-BE49-F238E27FC236}">
                <a16:creationId xmlns:a16="http://schemas.microsoft.com/office/drawing/2014/main" id="{39EE8CEB-B9D4-46E8-8FC5-27C885D0CE84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79">
            <a:extLst>
              <a:ext uri="{FF2B5EF4-FFF2-40B4-BE49-F238E27FC236}">
                <a16:creationId xmlns:a16="http://schemas.microsoft.com/office/drawing/2014/main" id="{807E8725-0570-4B39-A032-8B125614E9F7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80">
            <a:extLst>
              <a:ext uri="{FF2B5EF4-FFF2-40B4-BE49-F238E27FC236}">
                <a16:creationId xmlns:a16="http://schemas.microsoft.com/office/drawing/2014/main" id="{9323FC68-A6C9-451B-92FB-2939C08372CF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A.-9</a:t>
            </a:r>
          </a:p>
        </p:txBody>
      </p:sp>
      <p:sp>
        <p:nvSpPr>
          <p:cNvPr id="9" name="shape-381">
            <a:extLst>
              <a:ext uri="{FF2B5EF4-FFF2-40B4-BE49-F238E27FC236}">
                <a16:creationId xmlns:a16="http://schemas.microsoft.com/office/drawing/2014/main" id="{6BC0A204-94E3-4EE9-B6C6-84A71CB155A3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382">
            <a:extLst>
              <a:ext uri="{FF2B5EF4-FFF2-40B4-BE49-F238E27FC236}">
                <a16:creationId xmlns:a16="http://schemas.microsoft.com/office/drawing/2014/main" id="{F01413CB-1790-45FA-B32D-AA40CE5A4E19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배포 구성과 사전 연결</a:t>
            </a:r>
          </a:p>
        </p:txBody>
      </p:sp>
      <p:sp>
        <p:nvSpPr>
          <p:cNvPr id="11" name="shape-383">
            <a:extLst>
              <a:ext uri="{FF2B5EF4-FFF2-40B4-BE49-F238E27FC236}">
                <a16:creationId xmlns:a16="http://schemas.microsoft.com/office/drawing/2014/main" id="{855A03D4-1851-4299-83A6-8746D9933319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실행 패키지와 별도 확보한 사전을 임의의 로컬 경로에서 연결</a:t>
            </a:r>
          </a:p>
        </p:txBody>
      </p:sp>
      <p:sp>
        <p:nvSpPr>
          <p:cNvPr id="12" name="shape-384">
            <a:extLst>
              <a:ext uri="{FF2B5EF4-FFF2-40B4-BE49-F238E27FC236}">
                <a16:creationId xmlns:a16="http://schemas.microsoft.com/office/drawing/2014/main" id="{473AFFE1-5304-486E-8509-E3DD90626215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385">
            <a:extLst>
              <a:ext uri="{FF2B5EF4-FFF2-40B4-BE49-F238E27FC236}">
                <a16:creationId xmlns:a16="http://schemas.microsoft.com/office/drawing/2014/main" id="{B3ECEA30-85A7-4516-BC48-8494762A1D8D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386">
            <a:extLst>
              <a:ext uri="{FF2B5EF4-FFF2-40B4-BE49-F238E27FC236}">
                <a16:creationId xmlns:a16="http://schemas.microsoft.com/office/drawing/2014/main" id="{31811DCE-870C-44D9-9DE8-A5ADE501BF14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387">
            <a:extLst>
              <a:ext uri="{FF2B5EF4-FFF2-40B4-BE49-F238E27FC236}">
                <a16:creationId xmlns:a16="http://schemas.microsoft.com/office/drawing/2014/main" id="{058565BB-B464-4D3E-8E44-9387786C6EE5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20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31DED35-5668-491F-8F14-2FD927D12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66029" y="1924050"/>
            <a:ext cx="8459943" cy="3524250"/>
          </a:xfrm>
          <a:prstGeom prst="rect">
            <a:avLst/>
          </a:prstGeom>
        </p:spPr>
      </p:pic>
      <p:sp>
        <p:nvSpPr>
          <p:cNvPr id="17" name="shape-388">
            <a:extLst>
              <a:ext uri="{FF2B5EF4-FFF2-40B4-BE49-F238E27FC236}">
                <a16:creationId xmlns:a16="http://schemas.microsoft.com/office/drawing/2014/main" id="{1867101C-7A0D-4B13-AEFA-9B427B153FFA}"/>
              </a:ext>
            </a:extLst>
          </p:cNvPr>
          <p:cNvSpPr>
            <a:spLocks noGrp="1"/>
          </p:cNvSpPr>
          <p:nvPr/>
        </p:nvSpPr>
        <p:spPr>
          <a:xfrm>
            <a:off x="514350" y="5638800"/>
            <a:ext cx="53816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실행 패키지의 EXE·models 구조 유지</a:t>
            </a:r>
          </a:p>
        </p:txBody>
      </p:sp>
      <p:sp>
        <p:nvSpPr>
          <p:cNvPr id="18" name="shape-389">
            <a:extLst>
              <a:ext uri="{FF2B5EF4-FFF2-40B4-BE49-F238E27FC236}">
                <a16:creationId xmlns:a16="http://schemas.microsoft.com/office/drawing/2014/main" id="{014AFBA3-E4FC-4462-870F-BCACE33C1D4C}"/>
              </a:ext>
            </a:extLst>
          </p:cNvPr>
          <p:cNvSpPr>
            <a:spLocks noGrp="1"/>
          </p:cNvSpPr>
          <p:nvPr/>
        </p:nvSpPr>
        <p:spPr>
          <a:xfrm>
            <a:off x="6296025" y="5638800"/>
            <a:ext cx="53816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8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사전은 임의 경로의 폴더·ZIP·파일 연결</a:t>
            </a:r>
          </a:p>
        </p:txBody>
      </p:sp>
      <p:sp>
        <p:nvSpPr>
          <p:cNvPr id="19" name="shape-390">
            <a:extLst>
              <a:ext uri="{FF2B5EF4-FFF2-40B4-BE49-F238E27FC236}">
                <a16:creationId xmlns:a16="http://schemas.microsoft.com/office/drawing/2014/main" id="{ABD2FECA-3DCE-467A-A576-CAB0EF86310B}"/>
              </a:ext>
            </a:extLst>
          </p:cNvPr>
          <p:cNvSpPr>
            <a:spLocks noGrp="1"/>
          </p:cNvSpPr>
          <p:nvPr/>
        </p:nvSpPr>
        <p:spPr>
          <a:xfrm>
            <a:off x="514350" y="6076950"/>
            <a:ext cx="111633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여러 종류를 통합하려면 자료가 함께 들어 있는 상위 폴더 연결 · 사용 권한을 확보한 사전 별도 준비</a:t>
            </a:r>
          </a:p>
        </p:txBody>
      </p:sp>
    </p:spTree>
    <p:extLst>
      <p:ext uri="{BB962C8B-B14F-4D97-AF65-F5344CB8AC3E}">
        <p14:creationId xmlns:p14="http://schemas.microsoft.com/office/powerpoint/2010/main" val="387624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-391">
            <a:extLst>
              <a:ext uri="{FF2B5EF4-FFF2-40B4-BE49-F238E27FC236}">
                <a16:creationId xmlns:a16="http://schemas.microsoft.com/office/drawing/2014/main" id="{1F3CFEE7-D486-4045-A775-EDC91988A6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EFF4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-392">
            <a:extLst>
              <a:ext uri="{FF2B5EF4-FFF2-40B4-BE49-F238E27FC236}">
                <a16:creationId xmlns:a16="http://schemas.microsoft.com/office/drawing/2014/main" id="{8A75CEFE-10D0-49AC-9564-2BBF749094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1143000"/>
          </a:xfrm>
          <a:prstGeom prst="roundRect">
            <a:avLst>
              <a:gd name="adj" fmla="val 6667"/>
            </a:avLst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-393">
            <a:extLst>
              <a:ext uri="{FF2B5EF4-FFF2-40B4-BE49-F238E27FC236}">
                <a16:creationId xmlns:a16="http://schemas.microsoft.com/office/drawing/2014/main" id="{697F6876-5482-4D72-8448-CEA2294FBA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476375" cy="504825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-394">
            <a:extLst>
              <a:ext uri="{FF2B5EF4-FFF2-40B4-BE49-F238E27FC236}">
                <a16:creationId xmlns:a16="http://schemas.microsoft.com/office/drawing/2014/main" id="{9FE6BD35-57BE-47A4-ACAF-5F7C65A722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23875" cy="1143000"/>
          </a:xfrm>
          <a:prstGeom prst="rect">
            <a:avLst/>
          </a:prstGeom>
          <a:solidFill>
            <a:srgbClr val="244B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-395">
            <a:extLst>
              <a:ext uri="{FF2B5EF4-FFF2-40B4-BE49-F238E27FC236}">
                <a16:creationId xmlns:a16="http://schemas.microsoft.com/office/drawing/2014/main" id="{23D48194-CD6E-4B58-8ACE-816DD2B81F6C}"/>
              </a:ext>
            </a:extLst>
          </p:cNvPr>
          <p:cNvSpPr>
            <a:spLocks noGrp="1"/>
          </p:cNvSpPr>
          <p:nvPr/>
        </p:nvSpPr>
        <p:spPr>
          <a:xfrm>
            <a:off x="1676400" y="1047750"/>
            <a:ext cx="10515600" cy="19050"/>
          </a:xfrm>
          <a:prstGeom prst="rect">
            <a:avLst/>
          </a:prstGeom>
          <a:solidFill>
            <a:srgbClr val="D8E6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396">
            <a:extLst>
              <a:ext uri="{FF2B5EF4-FFF2-40B4-BE49-F238E27FC236}">
                <a16:creationId xmlns:a16="http://schemas.microsoft.com/office/drawing/2014/main" id="{62608430-886A-468E-9D18-E4C758EAC9E9}"/>
              </a:ext>
            </a:extLst>
          </p:cNvPr>
          <p:cNvSpPr>
            <a:spLocks noGrp="1"/>
          </p:cNvSpPr>
          <p:nvPr/>
        </p:nvSpPr>
        <p:spPr>
          <a:xfrm>
            <a:off x="11353800" y="819150"/>
            <a:ext cx="495300" cy="28575"/>
          </a:xfrm>
          <a:prstGeom prst="rect">
            <a:avLst/>
          </a:prstGeom>
          <a:solidFill>
            <a:srgbClr val="B7CF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397">
            <a:extLst>
              <a:ext uri="{FF2B5EF4-FFF2-40B4-BE49-F238E27FC236}">
                <a16:creationId xmlns:a16="http://schemas.microsoft.com/office/drawing/2014/main" id="{E2AC8E4C-F11C-4B0B-B2FB-959F72AA4E4E}"/>
              </a:ext>
            </a:extLst>
          </p:cNvPr>
          <p:cNvSpPr>
            <a:spLocks noGrp="1"/>
          </p:cNvSpPr>
          <p:nvPr/>
        </p:nvSpPr>
        <p:spPr>
          <a:xfrm>
            <a:off x="11620500" y="895350"/>
            <a:ext cx="228600" cy="28575"/>
          </a:xfrm>
          <a:prstGeom prst="rect">
            <a:avLst/>
          </a:prstGeom>
          <a:solidFill>
            <a:srgbClr val="6E9BC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-398">
            <a:extLst>
              <a:ext uri="{FF2B5EF4-FFF2-40B4-BE49-F238E27FC236}">
                <a16:creationId xmlns:a16="http://schemas.microsoft.com/office/drawing/2014/main" id="{4B6C6B19-D59A-4E2E-98D7-82446DF15F94}"/>
              </a:ext>
            </a:extLst>
          </p:cNvPr>
          <p:cNvSpPr>
            <a:spLocks noGrp="1"/>
          </p:cNvSpPr>
          <p:nvPr/>
        </p:nvSpPr>
        <p:spPr>
          <a:xfrm>
            <a:off x="95250" y="304800"/>
            <a:ext cx="1266825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defPPr>
            <a:lvl1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1pPr>
            <a:lvl2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2pPr>
            <a:lvl3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3pPr>
            <a:lvl4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4pPr>
            <a:lvl5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5pPr>
            <a:lvl6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6pPr>
            <a:lvl7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7pPr>
            <a:lvl8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8pPr>
            <a:lvl9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lvl9pPr>
          </a:lstStyle>
          <a:p>
            <a:pPr algn="ctr">
              <a:def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925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A.-10</a:t>
            </a:r>
          </a:p>
        </p:txBody>
      </p:sp>
      <p:sp>
        <p:nvSpPr>
          <p:cNvPr id="9" name="shape-399">
            <a:extLst>
              <a:ext uri="{FF2B5EF4-FFF2-40B4-BE49-F238E27FC236}">
                <a16:creationId xmlns:a16="http://schemas.microsoft.com/office/drawing/2014/main" id="{4CBC8BE5-3665-47F9-919A-956600DC69F5}"/>
              </a:ext>
            </a:extLst>
          </p:cNvPr>
          <p:cNvSpPr>
            <a:spLocks noGrp="1"/>
          </p:cNvSpPr>
          <p:nvPr/>
        </p:nvSpPr>
        <p:spPr>
          <a:xfrm>
            <a:off x="1676400" y="342900"/>
            <a:ext cx="18097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77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기술 부록</a:t>
            </a:r>
          </a:p>
        </p:txBody>
      </p:sp>
      <p:sp>
        <p:nvSpPr>
          <p:cNvPr id="10" name="shape-400">
            <a:extLst>
              <a:ext uri="{FF2B5EF4-FFF2-40B4-BE49-F238E27FC236}">
                <a16:creationId xmlns:a16="http://schemas.microsoft.com/office/drawing/2014/main" id="{3DCC3795-07B3-49E4-8EB5-F1AC4E4ED125}"/>
              </a:ext>
            </a:extLst>
          </p:cNvPr>
          <p:cNvSpPr>
            <a:spLocks noGrp="1"/>
          </p:cNvSpPr>
          <p:nvPr/>
        </p:nvSpPr>
        <p:spPr>
          <a:xfrm>
            <a:off x="3600450" y="457200"/>
            <a:ext cx="708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025" b="1">
                <a:solidFill>
                  <a:srgbClr val="244B70"/>
                </a:solidFill>
                <a:latin typeface="Pretendard SemiBold"/>
                <a:ea typeface="Pretendard SemiBold"/>
                <a:cs typeface="Pretendard SemiBold"/>
              </a:rPr>
              <a:t>검증 설계와 해석 범위</a:t>
            </a:r>
          </a:p>
        </p:txBody>
      </p:sp>
      <p:sp>
        <p:nvSpPr>
          <p:cNvPr id="11" name="shape-401">
            <a:extLst>
              <a:ext uri="{FF2B5EF4-FFF2-40B4-BE49-F238E27FC236}">
                <a16:creationId xmlns:a16="http://schemas.microsoft.com/office/drawing/2014/main" id="{6226B6CF-F3CD-41E8-BE5A-D9640B17F443}"/>
              </a:ext>
            </a:extLst>
          </p:cNvPr>
          <p:cNvSpPr>
            <a:spLocks noGrp="1"/>
          </p:cNvSpPr>
          <p:nvPr/>
        </p:nvSpPr>
        <p:spPr>
          <a:xfrm>
            <a:off x="514350" y="1362075"/>
            <a:ext cx="1116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575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제한된 내부 평가 결과의 재현 조건과 후속 검증 항목 명시</a:t>
            </a:r>
          </a:p>
        </p:txBody>
      </p:sp>
      <p:sp>
        <p:nvSpPr>
          <p:cNvPr id="12" name="shape-402">
            <a:extLst>
              <a:ext uri="{FF2B5EF4-FFF2-40B4-BE49-F238E27FC236}">
                <a16:creationId xmlns:a16="http://schemas.microsoft.com/office/drawing/2014/main" id="{8D5E8CB4-1454-4578-B790-3DD8C7662DA2}"/>
              </a:ext>
            </a:extLst>
          </p:cNvPr>
          <p:cNvSpPr>
            <a:spLocks noGrp="1"/>
          </p:cNvSpPr>
          <p:nvPr/>
        </p:nvSpPr>
        <p:spPr>
          <a:xfrm>
            <a:off x="514350" y="17621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-403">
            <a:extLst>
              <a:ext uri="{FF2B5EF4-FFF2-40B4-BE49-F238E27FC236}">
                <a16:creationId xmlns:a16="http://schemas.microsoft.com/office/drawing/2014/main" id="{837A44C5-CAEC-4C3A-9D40-5E262B238EE3}"/>
              </a:ext>
            </a:extLst>
          </p:cNvPr>
          <p:cNvSpPr>
            <a:spLocks noGrp="1"/>
          </p:cNvSpPr>
          <p:nvPr/>
        </p:nvSpPr>
        <p:spPr>
          <a:xfrm>
            <a:off x="514350" y="6524625"/>
            <a:ext cx="11163300" cy="9525"/>
          </a:xfrm>
          <a:prstGeom prst="rect">
            <a:avLst/>
          </a:prstGeom>
          <a:solidFill>
            <a:srgbClr val="D6E7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404">
            <a:extLst>
              <a:ext uri="{FF2B5EF4-FFF2-40B4-BE49-F238E27FC236}">
                <a16:creationId xmlns:a16="http://schemas.microsoft.com/office/drawing/2014/main" id="{9BC2F4C4-E483-4718-9B7D-05F3C607A22D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1000125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90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시맨틱ID 검색 효율성 개선 도구  /  한양대학교  /  2026.10</a:t>
            </a:r>
          </a:p>
        </p:txBody>
      </p:sp>
      <p:sp>
        <p:nvSpPr>
          <p:cNvPr id="15" name="shape-405">
            <a:extLst>
              <a:ext uri="{FF2B5EF4-FFF2-40B4-BE49-F238E27FC236}">
                <a16:creationId xmlns:a16="http://schemas.microsoft.com/office/drawing/2014/main" id="{C958F2EE-E47B-429B-9AA1-4530157944DC}"/>
              </a:ext>
            </a:extLst>
          </p:cNvPr>
          <p:cNvSpPr>
            <a:spLocks noGrp="1"/>
          </p:cNvSpPr>
          <p:nvPr/>
        </p:nvSpPr>
        <p:spPr>
          <a:xfrm>
            <a:off x="11125200" y="658177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r">
              <a:def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1200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21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E27FDF-6A01-4B87-9D01-F36DEDD992C2}"/>
              </a:ext>
            </a:extLst>
          </p:cNvPr>
          <p:cNvGraphicFramePr/>
          <p:nvPr/>
        </p:nvGraphicFramePr>
        <p:xfrm>
          <a:off x="514350" y="2076450"/>
          <a:ext cx="11163300" cy="1952625"/>
        </p:xfrm>
        <a:graphic>
          <a:graphicData uri="http://schemas.openxmlformats.org/drawingml/2006/table">
            <a:tbl>
              <a:tblPr/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0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평가 묶음</a:t>
                      </a:r>
                    </a:p>
                  </a:txBody>
                  <a:tcPr anchor="ctr">
                    <a:lnL w="9525">
                      <a:solidFill>
                        <a:srgbClr val="D6E7F6"/>
                      </a:solidFill>
                      <a:prstDash val="soli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1위 일치 (전 → 후)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상위 5개 포함 (전 → 후)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>
                      <a:solidFill>
                        <a:srgbClr val="D6E7F6"/>
                      </a:solidFill>
                      <a:prstDash val="soli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103B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개선에 사용한 20개</a:t>
                      </a:r>
                    </a:p>
                  </a:txBody>
                  <a:tcPr anchor="ctr">
                    <a:lnL w="9525">
                      <a:solidFill>
                        <a:srgbClr val="D6E7F6"/>
                      </a:solidFill>
                      <a:prstDash val="soli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11/20 → 20/20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19/20 → 20/20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별도 추가 점검 8개</a:t>
                      </a:r>
                    </a:p>
                  </a:txBody>
                  <a:tcPr anchor="ctr">
                    <a:lnL w="9525">
                      <a:solidFill>
                        <a:srgbClr val="D6E7F6"/>
                      </a:solidFill>
                      <a:prstDash val="soli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EFF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6/8 → 7/8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EFF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4334B"/>
                          </a:solidFill>
                          <a:latin typeface="Pretendard Variable"/>
                          <a:ea typeface="Pretendard Variable"/>
                          <a:cs typeface="Pretendard Variable"/>
                        </a:rPr>
                        <a:t>7/8 → 8/8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6E7F6"/>
                      </a:solidFill>
                      <a:prstDash val="solid"/>
                    </a:lnR>
                    <a:lnT w="9525" cap="flat" cmpd="sng" algn="ctr">
                      <a:solidFill>
                        <a:srgbClr val="D6E7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E7F6"/>
                      </a:solidFill>
                      <a:prstDash val="solid"/>
                    </a:lnB>
                    <a:solidFill>
                      <a:srgbClr val="EF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shape-406">
            <a:extLst>
              <a:ext uri="{FF2B5EF4-FFF2-40B4-BE49-F238E27FC236}">
                <a16:creationId xmlns:a16="http://schemas.microsoft.com/office/drawing/2014/main" id="{D2ACEAB8-D698-45F2-B62E-87B2A3413E11}"/>
              </a:ext>
            </a:extLst>
          </p:cNvPr>
          <p:cNvSpPr>
            <a:spLocks noGrp="1"/>
          </p:cNvSpPr>
          <p:nvPr/>
        </p:nvSpPr>
        <p:spPr>
          <a:xfrm>
            <a:off x="514350" y="4467225"/>
            <a:ext cx="51720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175" b="1">
                <a:solidFill>
                  <a:srgbClr val="103B68"/>
                </a:solidFill>
                <a:latin typeface="Pretendard SemiBold"/>
                <a:ea typeface="Pretendard SemiBold"/>
                <a:cs typeface="Pretendard SemiBold"/>
              </a:rPr>
              <a:t>현재 확인한 범위</a:t>
            </a:r>
          </a:p>
        </p:txBody>
      </p:sp>
      <p:sp>
        <p:nvSpPr>
          <p:cNvPr id="18" name="shape-407">
            <a:extLst>
              <a:ext uri="{FF2B5EF4-FFF2-40B4-BE49-F238E27FC236}">
                <a16:creationId xmlns:a16="http://schemas.microsoft.com/office/drawing/2014/main" id="{624072D1-8556-487C-8568-C29D24C10719}"/>
              </a:ext>
            </a:extLst>
          </p:cNvPr>
          <p:cNvSpPr>
            <a:spLocks noGrp="1"/>
          </p:cNvSpPr>
          <p:nvPr/>
        </p:nvSpPr>
        <p:spPr>
          <a:xfrm>
            <a:off x="514350" y="5067300"/>
            <a:ext cx="517207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동일 조건에서 후보 순위 개선</a:t>
            </a:r>
          </a:p>
          <a:p>
            <a: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주요 기능 테스트 125개 통과</a:t>
            </a:r>
          </a:p>
        </p:txBody>
      </p:sp>
      <p:sp>
        <p:nvSpPr>
          <p:cNvPr id="19" name="shape-408">
            <a:extLst>
              <a:ext uri="{FF2B5EF4-FFF2-40B4-BE49-F238E27FC236}">
                <a16:creationId xmlns:a16="http://schemas.microsoft.com/office/drawing/2014/main" id="{79E42D83-4489-455E-9EAE-9A8CC3D31BC8}"/>
              </a:ext>
            </a:extLst>
          </p:cNvPr>
          <p:cNvSpPr>
            <a:spLocks noGrp="1"/>
          </p:cNvSpPr>
          <p:nvPr/>
        </p:nvSpPr>
        <p:spPr>
          <a:xfrm>
            <a:off x="6486525" y="4467225"/>
            <a:ext cx="51911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defPPr>
            <a:lvl1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1pPr>
            <a:lvl2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2pPr>
            <a:lvl3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3pPr>
            <a:lvl4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4pPr>
            <a:lvl5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5pPr>
            <a:lvl6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6pPr>
            <a:lvl7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7pPr>
            <a:lvl8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8pPr>
            <a:lvl9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lvl9pPr>
          </a:lstStyle>
          <a:p>
            <a:pPr algn="l">
              <a:def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defRPr>
            </a:pPr>
            <a:r>
              <a:rPr sz="2175" b="1">
                <a:solidFill>
                  <a:srgbClr val="1678DF"/>
                </a:solidFill>
                <a:latin typeface="Pretendard SemiBold"/>
                <a:ea typeface="Pretendard SemiBold"/>
                <a:cs typeface="Pretendard SemiBold"/>
              </a:rPr>
              <a:t>추가 검증이 필요한 범위</a:t>
            </a:r>
          </a:p>
        </p:txBody>
      </p:sp>
      <p:sp>
        <p:nvSpPr>
          <p:cNvPr id="20" name="shape-409">
            <a:extLst>
              <a:ext uri="{FF2B5EF4-FFF2-40B4-BE49-F238E27FC236}">
                <a16:creationId xmlns:a16="http://schemas.microsoft.com/office/drawing/2014/main" id="{1861F9E4-6085-4CD8-82CA-207C470EC558}"/>
              </a:ext>
            </a:extLst>
          </p:cNvPr>
          <p:cNvSpPr>
            <a:spLocks noGrp="1"/>
          </p:cNvSpPr>
          <p:nvPr/>
        </p:nvSpPr>
        <p:spPr>
          <a:xfrm>
            <a:off x="6486525" y="5067300"/>
            <a:ext cx="519112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전문가 확정 정답 · 미사용 평가 항목</a:t>
            </a:r>
          </a:p>
          <a:p>
            <a:pPr algn="l">
              <a:def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875" b="0">
                <a:solidFill>
                  <a:srgbClr val="24334B"/>
                </a:solidFill>
                <a:latin typeface="Pretendard Variable"/>
                <a:ea typeface="Pretendard Variable"/>
                <a:cs typeface="Pretendard Variable"/>
              </a:rPr>
              <a:t>번역 의미 오류 · 수동 대비 검토 시간</a:t>
            </a:r>
          </a:p>
        </p:txBody>
      </p:sp>
      <p:sp>
        <p:nvSpPr>
          <p:cNvPr id="21" name="shape-410">
            <a:extLst>
              <a:ext uri="{FF2B5EF4-FFF2-40B4-BE49-F238E27FC236}">
                <a16:creationId xmlns:a16="http://schemas.microsoft.com/office/drawing/2014/main" id="{BEDEF6DB-7361-46B6-89CC-803A89FBCAA9}"/>
              </a:ext>
            </a:extLst>
          </p:cNvPr>
          <p:cNvSpPr>
            <a:spLocks noGrp="1"/>
          </p:cNvSpPr>
          <p:nvPr/>
        </p:nvSpPr>
        <p:spPr>
          <a:xfrm>
            <a:off x="514350" y="6076950"/>
            <a:ext cx="111633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defPPr>
            <a:lvl1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1pPr>
            <a:lvl2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2pPr>
            <a:lvl3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3pPr>
            <a:lvl4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4pPr>
            <a:lvl5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5pPr>
            <a:lvl6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6pPr>
            <a:lvl7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7pPr>
            <a:lvl8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8pPr>
            <a:lvl9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lvl9pPr>
          </a:lstStyle>
          <a:p>
            <a:pPr algn="l">
              <a:def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defRPr>
            </a:pPr>
            <a:r>
              <a:rPr sz="1350" b="0">
                <a:solidFill>
                  <a:srgbClr val="63728A"/>
                </a:solidFill>
                <a:latin typeface="Pretendard Variable"/>
                <a:ea typeface="Pretendard Variable"/>
                <a:cs typeface="Pretendard Variable"/>
              </a:rPr>
              <a:t>해석 한계: 소수 문항과 잠정 기준에 따른 내부 평가 · 일반 검색 정확도와 시간 절감률의 추가 검증 필요</a:t>
            </a:r>
          </a:p>
        </p:txBody>
      </p:sp>
    </p:spTree>
    <p:extLst>
      <p:ext uri="{BB962C8B-B14F-4D97-AF65-F5344CB8AC3E}">
        <p14:creationId xmlns:p14="http://schemas.microsoft.com/office/powerpoint/2010/main" val="7413727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1462</Words>
  <Application>Microsoft Office PowerPoint</Application>
  <DocSecurity>0</DocSecurity>
  <PresentationFormat>와이드스크린</PresentationFormat>
  <Paragraphs>232</Paragraphs>
  <Slides>21</Slides>
  <Notes>21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Pretendard Medium</vt:lpstr>
      <vt:lpstr>Pretendard SemiBold</vt:lpstr>
      <vt:lpstr>Pretendard Variable</vt:lpstr>
      <vt:lpstr>Aptos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소윤 이</cp:lastModifiedBy>
  <cp:revision>6</cp:revision>
  <dcterms:created xsi:type="dcterms:W3CDTF">2026-10-27T15:59:01Z</dcterms:created>
  <dcterms:modified xsi:type="dcterms:W3CDTF">2026-10-28T03:23:36Z</dcterms:modified>
</cp:coreProperties>
</file>